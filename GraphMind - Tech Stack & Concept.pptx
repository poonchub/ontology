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สวัสดีครับ วันนี้ผมจะนำเสนอโปรเจกต์ GraphMind ระบบถามตอบเกี่ยวกับผลไม้ที่สร้างขึ้นเพื่อศึกษาการทำงานร่วมกันของ Ontology, Knowledge Graph และ Local LLM สไลด์ชุดนี้แบ่งเป็นสองส่วนหลัก คือ Tech Stack ที่ใช้ทั้งหมด และ Concept การทำงานของระบบตั้งแต่ผู้ใช้พิมพ์คำถาม จนได้คำตอบที่มีหลักฐานอ้างอิงจริงกลับมา เป้าหมายสำคัญของโปรเจกต์นี้คือการพิสูจน์ว่า เราสามารถให้ LLM ช่วยตอบคำถามได้ โดยไม่ต้องกังวลเรื่องคำตอบที่ไม่เป็นความจริง เพราะทุกคำตอบต้องอ้างอิงจาก Knowledge Graph เสมอครับ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โปรเจกต์ GraphMind เป็นระบบสาธิตที่ตอบคำถามภาษาธรรมชาติเกี่ยวกับผลไม้ หัวใจสำคัญคือการให้ Ontology และ Knowledge Graph เป็นแหล่งความจริงเพียงแหล่งเดียว ส่วน Local LLM ทำหน้าที่แค่แปลภาษาคนไปเป็น SPARQL และแปลผลลัพธ์กลับมาเป็นภาษาคนเท่านั้น ไม่ได้เก็บหรือสร้างข้อมูลเอง ขอบเขตข้อมูลที่ระบบรู้จักมีห้ากลุ่มหลัก คือผลไม้ สี ประเภทผลไม้ ประเทศที่ปลูก และระดับความหวาน และเรามีชุดคำถามมาตรฐานที่เรียกว่า Competency Questions ทั้งหมด 8 ข้อ ที่ระบบต้องตอบได้ถูกต้องร้อยเปอร์เซ็นต์ เพื่อยืนยันว่าออกแบบ ontology และ pipeline ได้ครบถ้วนจริง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สไลด์นี้แสดงสถาปัตยกรรมของระบบทั้งหมด เริ่มจากผู้ใช้พิมพ์คำถามที่ Frontend ซึ่งพัฒนาด้วย Next.js รันที่พอร์ต 3000 จากนั้น Frontend เรียก Backend ผ่าน REST API โดย Backend เขียนด้วย FastAPI รันที่พอร์ต 8000 Backend เป็นตัวกลางที่คุยกับสององค์ประกอบหลัก คือ Ollama ซึ่งรัน Local LLM ที่พอร์ต 11434 สำหรับสร้างและสรุป SPARQL และ Apache Jena Fuseki ซึ่งเป็น Knowledge Graph พร้อม SPARQL endpoint ที่พอร์ต 3030 เก็บข้อมูลด้วย TDB2 จุดสำคัญคือ Backend จะสั่งให้ Ollama สร้างคำตอบและตรวจสอบผ่าน Fuseki เสมอทุกครั้ง ไม่มีการข้ามขั้นตอนนี้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สไลด์นี้สรุป Tech Stack ทั้งหมดที่ใช้ในโปรเจกต์ แบ่งเป็นสองชั้น ชั้นแรกคือ Knowledge &amp; Data Layer ซึ่งใช้ Protégé ออกแบบ Ontology เป็นมาตรฐาน OWL และ RDF แล้วเก็บไว้ใน Apache Jena Fuseki ที่รันผ่าน Docker และใช้ SQLite เก็บประวัติการสนทนา ชั้นที่สองคือ Application &amp; AI Layer ซึ่งใช้ Ollama รัน Local LLM บน Python ผ่าน FastAPI เป็น backend และใช้ Next.js กับ React เป็น frontend จุดที่อยากเน้นคือทุกเครื่องมือที่เลือกใช้เป็น open source และรันได้บนเครื่องของเราเองทั้งหมด ไม่ต้องพึ่งพา API ภายนอกหรือ cloud LLM เลย ทำให้ควบคุมข้อมูลและต้นทุนได้เต็มที่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สไลด์นี้ลงรายละเอียด Tech Stack ชั้น Knowledge Layer ฝั่งซ้ายคือ Protégé เครื่องมือออกแบบ Ontology มาตรฐาน ซึ่งเราออกแบบไว้สี่คลาสหลัก คือ Fruit, Color, FruitCategory และ Country พร้อม Object Properties และ Data Properties เช่น hasColor, grownIn, belongsToCategory และ sweetness แล้ว export ออกมาเป็นไฟล์ OWL เพื่อนำเข้า Fuseki ต่อ ฝั่งขวาคือ Apache Jena Fuseki ซึ่งเป็นทั้ง RDF Triple Store และ SPARQL Server รันผ่าน Docker Compose เก็บข้อมูลแบบ persistent ด้วย TDB2 และเปิด endpoint แบบ read-only เท่านั้นให้ Backend เรียกใช้ เพื่อความปลอดภัยของข้อมูล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สไลด์นี้แสดงชั้น Application Layer ที่ทำงานร่วมกันสามส่วน Ollama รันโมเดล qwen2.5:3b บนเครื่องเราเอง ทำหน้าที่แปลง Natural Language เป็น SPARQL และแปลงผลลัพธ์กลับเป็นคำตอบ โดยไม่มี agent loop หรือ tool-calling ที่ซับซ้อน เพื่อให้ผลลัพธ์คาดเดาได้ FastAPI เป็น Backend ที่มี SparqlValidator คอยตรวจทุก query ก่อนส่งไป Fuseki และเก็บประวัติแชทไว้ใน SQLite ส่วน Next.js กับ React เป็น Frontend ที่แสดงผลแบบโปร่งใส คือโชว์ทั้ง Knowledge Graph Evidence และ SPARQL Query ที่ใช้จริงให้ผู้ใช้เห็น ไม่ใช่แค่คำตอบเฉย 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ตอนนี้มาดู Concept การทำงานแบบ End-to-End ต่อหนึ่งคำถาม เริ่มจากผู้ใช้พิมพ์คำถามภาษาธรรมชาติ ขั้นที่สอง Ollama แปลงคำถามเป็น SPARQL query ร่าง ขั้นที่สาม SparqlValidator ตรวจสอบ query นั้น อนุญาตเฉพาะคำสั่ง SELECT และต้องอยู่ใน vocabulary ที่กำหนดเท่านั้น ถ้าไม่ผ่านจะให้ Ollama สร้างใหม่ได้อีกหนึ่งครั้ง ขั้นที่สี่ query ที่ผ่านตรวจแล้วจะถูกยิงไปที่ Fuseki เพื่อดึงข้อมูลจริงจาก Knowledge Graph ขั้นที่ห้า Ollama สรุปผลลัพธ์เหล่านั้นเป็นคำตอบภาษาคน และขั้นสุดท้าย ระบบตอบกลับพร้อมแสดงหลักฐานและ SPARQL ที่ใช้จริง ทุกคำถามต้องผ่านทั้งหกขั้นตอนนี้เสมอ ไม่มีการลัดขั้นตอน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สรุปหลักการสำคัญที่สุดของโปรเจกต์นี้ คือ LLM ไม่ใช่ Knowledge Base มันทำหน้าที่แค่แปลภาษาคนไปมากับ SPARQL เท่านั้น ความจริงทั้งหมดต้องมาจาก Knowledge Graph เสมอ ผลลัพธ์ที่ได้คือลดปัญหาการหลอนของโมเดล และตรวจสอบย้อนกลับได้ทุกคำตอบ เรามีมาตรการความปลอดภัยหลายชั้น คือรับเฉพาะคำสั่ง SELECT ปฏิเสธคำสั่งที่แก้ไขข้อมูลทุกกรณี ตรวจ URI ให้อยู่ใน namespace ที่กำหนด และให้โอกาส retry หนึ่งครั้งหากสร้าง query ไม่ผ่าน ก่อนส่งเฉพาะผลลัพธ์ที่ verified แล้วให้ LLM สรุปคำตอบ ขอบคุณที่รับฟังครับ หากมีคำถามหรือข้อเสนอแนะ ยินดีรับฟังทุกความคิดเห็นครับ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Shape 0"/>
          <p:cNvSpPr/>
          <p:nvPr/>
        </p:nvSpPr>
        <p:spPr>
          <a:xfrm flipV="1">
            <a:off x="7772400" y="1188720"/>
            <a:ext cx="724205" cy="197510"/>
          </a:xfrm>
          <a:prstGeom prst="line">
            <a:avLst/>
          </a:prstGeom>
          <a:noFill/>
          <a:ln w="12700">
            <a:solidFill>
              <a:srgbClr val="223252">
                <a:alpha val="65000"/>
              </a:srgbClr>
            </a:solidFill>
            <a:prstDash val="solid"/>
          </a:ln>
        </p:spPr>
      </p:sp>
      <p:sp>
        <p:nvSpPr>
          <p:cNvPr id="3" name="Shape 1"/>
          <p:cNvSpPr/>
          <p:nvPr/>
        </p:nvSpPr>
        <p:spPr>
          <a:xfrm>
            <a:off x="8496605" y="1188720"/>
            <a:ext cx="790042" cy="395021"/>
          </a:xfrm>
          <a:prstGeom prst="line">
            <a:avLst/>
          </a:prstGeom>
          <a:noFill/>
          <a:ln w="12700">
            <a:solidFill>
              <a:srgbClr val="223252">
                <a:alpha val="65000"/>
              </a:srgbClr>
            </a:solidFill>
            <a:prstDash val="solid"/>
          </a:ln>
        </p:spPr>
      </p:sp>
      <p:sp>
        <p:nvSpPr>
          <p:cNvPr id="4" name="Shape 2"/>
          <p:cNvSpPr/>
          <p:nvPr/>
        </p:nvSpPr>
        <p:spPr>
          <a:xfrm flipV="1">
            <a:off x="9286646" y="1254557"/>
            <a:ext cx="658368" cy="329184"/>
          </a:xfrm>
          <a:prstGeom prst="line">
            <a:avLst/>
          </a:prstGeom>
          <a:noFill/>
          <a:ln w="12700">
            <a:solidFill>
              <a:srgbClr val="223252">
                <a:alpha val="65000"/>
              </a:srgbClr>
            </a:solidFill>
            <a:prstDash val="solid"/>
          </a:ln>
        </p:spPr>
      </p:sp>
      <p:sp>
        <p:nvSpPr>
          <p:cNvPr id="5" name="Shape 3"/>
          <p:cNvSpPr/>
          <p:nvPr/>
        </p:nvSpPr>
        <p:spPr>
          <a:xfrm flipH="1">
            <a:off x="7509053" y="1386230"/>
            <a:ext cx="263347" cy="855878"/>
          </a:xfrm>
          <a:prstGeom prst="line">
            <a:avLst/>
          </a:prstGeom>
          <a:noFill/>
          <a:ln w="12700">
            <a:solidFill>
              <a:srgbClr val="223252">
                <a:alpha val="65000"/>
              </a:srgbClr>
            </a:solidFill>
            <a:prstDash val="solid"/>
          </a:ln>
        </p:spPr>
      </p:sp>
      <p:sp>
        <p:nvSpPr>
          <p:cNvPr id="6" name="Shape 4"/>
          <p:cNvSpPr/>
          <p:nvPr/>
        </p:nvSpPr>
        <p:spPr>
          <a:xfrm flipH="1">
            <a:off x="8299094" y="1188720"/>
            <a:ext cx="197510" cy="855878"/>
          </a:xfrm>
          <a:prstGeom prst="line">
            <a:avLst/>
          </a:prstGeom>
          <a:noFill/>
          <a:ln w="12700">
            <a:solidFill>
              <a:srgbClr val="223252">
                <a:alpha val="65000"/>
              </a:srgbClr>
            </a:solidFill>
            <a:prstDash val="solid"/>
          </a:ln>
        </p:spPr>
      </p:sp>
      <p:sp>
        <p:nvSpPr>
          <p:cNvPr id="7" name="Shape 5"/>
          <p:cNvSpPr/>
          <p:nvPr/>
        </p:nvSpPr>
        <p:spPr>
          <a:xfrm flipH="1">
            <a:off x="9089136" y="1583741"/>
            <a:ext cx="197510" cy="855878"/>
          </a:xfrm>
          <a:prstGeom prst="line">
            <a:avLst/>
          </a:prstGeom>
          <a:noFill/>
          <a:ln w="12700">
            <a:solidFill>
              <a:srgbClr val="223252">
                <a:alpha val="65000"/>
              </a:srgbClr>
            </a:solidFill>
            <a:prstDash val="solid"/>
          </a:ln>
        </p:spPr>
      </p:sp>
      <p:sp>
        <p:nvSpPr>
          <p:cNvPr id="8" name="Shape 6"/>
          <p:cNvSpPr/>
          <p:nvPr/>
        </p:nvSpPr>
        <p:spPr>
          <a:xfrm>
            <a:off x="9945014" y="1254557"/>
            <a:ext cx="65837" cy="855878"/>
          </a:xfrm>
          <a:prstGeom prst="line">
            <a:avLst/>
          </a:prstGeom>
          <a:noFill/>
          <a:ln w="12700">
            <a:solidFill>
              <a:srgbClr val="223252">
                <a:alpha val="65000"/>
              </a:srgbClr>
            </a:solidFill>
            <a:prstDash val="solid"/>
          </a:ln>
        </p:spPr>
      </p:sp>
      <p:sp>
        <p:nvSpPr>
          <p:cNvPr id="9" name="Shape 7"/>
          <p:cNvSpPr/>
          <p:nvPr/>
        </p:nvSpPr>
        <p:spPr>
          <a:xfrm flipV="1">
            <a:off x="7509053" y="2044598"/>
            <a:ext cx="790042" cy="197510"/>
          </a:xfrm>
          <a:prstGeom prst="line">
            <a:avLst/>
          </a:prstGeom>
          <a:noFill/>
          <a:ln w="12700">
            <a:solidFill>
              <a:srgbClr val="223252">
                <a:alpha val="65000"/>
              </a:srgbClr>
            </a:solidFill>
            <a:prstDash val="solid"/>
          </a:ln>
        </p:spPr>
      </p:sp>
      <p:sp>
        <p:nvSpPr>
          <p:cNvPr id="10" name="Shape 8"/>
          <p:cNvSpPr/>
          <p:nvPr/>
        </p:nvSpPr>
        <p:spPr>
          <a:xfrm>
            <a:off x="8299094" y="2044598"/>
            <a:ext cx="790042" cy="395021"/>
          </a:xfrm>
          <a:prstGeom prst="line">
            <a:avLst/>
          </a:prstGeom>
          <a:noFill/>
          <a:ln w="12700">
            <a:solidFill>
              <a:srgbClr val="223252">
                <a:alpha val="65000"/>
              </a:srgbClr>
            </a:solidFill>
            <a:prstDash val="solid"/>
          </a:ln>
        </p:spPr>
      </p:sp>
      <p:sp>
        <p:nvSpPr>
          <p:cNvPr id="11" name="Shape 9"/>
          <p:cNvSpPr/>
          <p:nvPr/>
        </p:nvSpPr>
        <p:spPr>
          <a:xfrm flipV="1">
            <a:off x="9089136" y="2110435"/>
            <a:ext cx="921715" cy="329184"/>
          </a:xfrm>
          <a:prstGeom prst="line">
            <a:avLst/>
          </a:prstGeom>
          <a:noFill/>
          <a:ln w="12700">
            <a:solidFill>
              <a:srgbClr val="223252">
                <a:alpha val="65000"/>
              </a:srgbClr>
            </a:solidFill>
            <a:prstDash val="solid"/>
          </a:ln>
        </p:spPr>
      </p:sp>
      <p:sp>
        <p:nvSpPr>
          <p:cNvPr id="12" name="Shape 10"/>
          <p:cNvSpPr/>
          <p:nvPr/>
        </p:nvSpPr>
        <p:spPr>
          <a:xfrm>
            <a:off x="7509053" y="2242109"/>
            <a:ext cx="592531" cy="790042"/>
          </a:xfrm>
          <a:prstGeom prst="line">
            <a:avLst/>
          </a:prstGeom>
          <a:noFill/>
          <a:ln w="12700">
            <a:solidFill>
              <a:srgbClr val="223252">
                <a:alpha val="65000"/>
              </a:srgbClr>
            </a:solidFill>
            <a:prstDash val="solid"/>
          </a:ln>
        </p:spPr>
      </p:sp>
      <p:sp>
        <p:nvSpPr>
          <p:cNvPr id="13" name="Shape 11"/>
          <p:cNvSpPr/>
          <p:nvPr/>
        </p:nvSpPr>
        <p:spPr>
          <a:xfrm>
            <a:off x="8299094" y="2044598"/>
            <a:ext cx="658368" cy="790042"/>
          </a:xfrm>
          <a:prstGeom prst="line">
            <a:avLst/>
          </a:prstGeom>
          <a:noFill/>
          <a:ln w="12700">
            <a:solidFill>
              <a:srgbClr val="223252">
                <a:alpha val="65000"/>
              </a:srgbClr>
            </a:solidFill>
            <a:prstDash val="solid"/>
          </a:ln>
        </p:spPr>
      </p:sp>
      <p:sp>
        <p:nvSpPr>
          <p:cNvPr id="14" name="Shape 12"/>
          <p:cNvSpPr/>
          <p:nvPr/>
        </p:nvSpPr>
        <p:spPr>
          <a:xfrm>
            <a:off x="9089136" y="2439619"/>
            <a:ext cx="724205" cy="724205"/>
          </a:xfrm>
          <a:prstGeom prst="line">
            <a:avLst/>
          </a:prstGeom>
          <a:noFill/>
          <a:ln w="12700">
            <a:solidFill>
              <a:srgbClr val="223252">
                <a:alpha val="65000"/>
              </a:srgbClr>
            </a:solidFill>
            <a:prstDash val="solid"/>
          </a:ln>
        </p:spPr>
      </p:sp>
      <p:sp>
        <p:nvSpPr>
          <p:cNvPr id="15" name="Shape 13"/>
          <p:cNvSpPr/>
          <p:nvPr/>
        </p:nvSpPr>
        <p:spPr>
          <a:xfrm flipV="1">
            <a:off x="8101584" y="2834640"/>
            <a:ext cx="855878" cy="197510"/>
          </a:xfrm>
          <a:prstGeom prst="line">
            <a:avLst/>
          </a:prstGeom>
          <a:noFill/>
          <a:ln w="12700">
            <a:solidFill>
              <a:srgbClr val="223252">
                <a:alpha val="65000"/>
              </a:srgbClr>
            </a:solidFill>
            <a:prstDash val="solid"/>
          </a:ln>
        </p:spPr>
      </p:sp>
      <p:sp>
        <p:nvSpPr>
          <p:cNvPr id="16" name="Shape 14"/>
          <p:cNvSpPr/>
          <p:nvPr/>
        </p:nvSpPr>
        <p:spPr>
          <a:xfrm>
            <a:off x="8957462" y="2834640"/>
            <a:ext cx="855878" cy="329184"/>
          </a:xfrm>
          <a:prstGeom prst="line">
            <a:avLst/>
          </a:prstGeom>
          <a:noFill/>
          <a:ln w="12700">
            <a:solidFill>
              <a:srgbClr val="223252">
                <a:alpha val="65000"/>
              </a:srgbClr>
            </a:solidFill>
            <a:prstDash val="solid"/>
          </a:ln>
        </p:spPr>
      </p:sp>
      <p:sp>
        <p:nvSpPr>
          <p:cNvPr id="17" name="Shape 15"/>
          <p:cNvSpPr/>
          <p:nvPr/>
        </p:nvSpPr>
        <p:spPr>
          <a:xfrm flipH="1">
            <a:off x="7838237" y="3032150"/>
            <a:ext cx="263347" cy="724205"/>
          </a:xfrm>
          <a:prstGeom prst="line">
            <a:avLst/>
          </a:prstGeom>
          <a:noFill/>
          <a:ln w="12700">
            <a:solidFill>
              <a:srgbClr val="223252">
                <a:alpha val="65000"/>
              </a:srgbClr>
            </a:solidFill>
            <a:prstDash val="solid"/>
          </a:ln>
        </p:spPr>
      </p:sp>
      <p:sp>
        <p:nvSpPr>
          <p:cNvPr id="18" name="Shape 16"/>
          <p:cNvSpPr/>
          <p:nvPr/>
        </p:nvSpPr>
        <p:spPr>
          <a:xfrm flipH="1">
            <a:off x="8694115" y="2834640"/>
            <a:ext cx="263347" cy="790042"/>
          </a:xfrm>
          <a:prstGeom prst="line">
            <a:avLst/>
          </a:prstGeom>
          <a:noFill/>
          <a:ln w="12700">
            <a:solidFill>
              <a:srgbClr val="223252">
                <a:alpha val="65000"/>
              </a:srgbClr>
            </a:solidFill>
            <a:prstDash val="solid"/>
          </a:ln>
        </p:spPr>
      </p:sp>
      <p:sp>
        <p:nvSpPr>
          <p:cNvPr id="19" name="Shape 17"/>
          <p:cNvSpPr/>
          <p:nvPr/>
        </p:nvSpPr>
        <p:spPr>
          <a:xfrm flipH="1">
            <a:off x="9549994" y="3163824"/>
            <a:ext cx="263347" cy="790042"/>
          </a:xfrm>
          <a:prstGeom prst="line">
            <a:avLst/>
          </a:prstGeom>
          <a:noFill/>
          <a:ln w="12700">
            <a:solidFill>
              <a:srgbClr val="223252">
                <a:alpha val="65000"/>
              </a:srgbClr>
            </a:solidFill>
            <a:prstDash val="solid"/>
          </a:ln>
        </p:spPr>
      </p:sp>
      <p:sp>
        <p:nvSpPr>
          <p:cNvPr id="20" name="Shape 18"/>
          <p:cNvSpPr/>
          <p:nvPr/>
        </p:nvSpPr>
        <p:spPr>
          <a:xfrm flipV="1">
            <a:off x="7838237" y="3624682"/>
            <a:ext cx="855878" cy="131674"/>
          </a:xfrm>
          <a:prstGeom prst="line">
            <a:avLst/>
          </a:prstGeom>
          <a:noFill/>
          <a:ln w="12700">
            <a:solidFill>
              <a:srgbClr val="223252">
                <a:alpha val="65000"/>
              </a:srgbClr>
            </a:solidFill>
            <a:prstDash val="solid"/>
          </a:ln>
        </p:spPr>
      </p:sp>
      <p:sp>
        <p:nvSpPr>
          <p:cNvPr id="21" name="Shape 19"/>
          <p:cNvSpPr/>
          <p:nvPr/>
        </p:nvSpPr>
        <p:spPr>
          <a:xfrm>
            <a:off x="8694115" y="3624682"/>
            <a:ext cx="855878" cy="329184"/>
          </a:xfrm>
          <a:prstGeom prst="line">
            <a:avLst/>
          </a:prstGeom>
          <a:noFill/>
          <a:ln w="12700">
            <a:solidFill>
              <a:srgbClr val="223252">
                <a:alpha val="65000"/>
              </a:srgbClr>
            </a:solidFill>
            <a:prstDash val="solid"/>
          </a:ln>
        </p:spPr>
      </p:sp>
      <p:sp>
        <p:nvSpPr>
          <p:cNvPr id="22" name="Shape 20"/>
          <p:cNvSpPr/>
          <p:nvPr/>
        </p:nvSpPr>
        <p:spPr>
          <a:xfrm flipV="1">
            <a:off x="9549994" y="3690518"/>
            <a:ext cx="592531" cy="263347"/>
          </a:xfrm>
          <a:prstGeom prst="line">
            <a:avLst/>
          </a:prstGeom>
          <a:noFill/>
          <a:ln w="12700">
            <a:solidFill>
              <a:srgbClr val="223252">
                <a:alpha val="65000"/>
              </a:srgbClr>
            </a:solidFill>
            <a:prstDash val="solid"/>
          </a:ln>
        </p:spPr>
      </p:sp>
      <p:sp>
        <p:nvSpPr>
          <p:cNvPr id="23" name="Shape 21"/>
          <p:cNvSpPr/>
          <p:nvPr/>
        </p:nvSpPr>
        <p:spPr>
          <a:xfrm>
            <a:off x="7838237" y="3756355"/>
            <a:ext cx="395021" cy="658368"/>
          </a:xfrm>
          <a:prstGeom prst="line">
            <a:avLst/>
          </a:prstGeom>
          <a:noFill/>
          <a:ln w="12700">
            <a:solidFill>
              <a:srgbClr val="223252">
                <a:alpha val="65000"/>
              </a:srgbClr>
            </a:solidFill>
            <a:prstDash val="solid"/>
          </a:ln>
        </p:spPr>
      </p:sp>
      <p:sp>
        <p:nvSpPr>
          <p:cNvPr id="24" name="Shape 22"/>
          <p:cNvSpPr/>
          <p:nvPr/>
        </p:nvSpPr>
        <p:spPr>
          <a:xfrm>
            <a:off x="8694115" y="3624682"/>
            <a:ext cx="395021" cy="921715"/>
          </a:xfrm>
          <a:prstGeom prst="line">
            <a:avLst/>
          </a:prstGeom>
          <a:noFill/>
          <a:ln w="12700">
            <a:solidFill>
              <a:srgbClr val="223252">
                <a:alpha val="65000"/>
              </a:srgbClr>
            </a:solidFill>
            <a:prstDash val="solid"/>
          </a:ln>
        </p:spPr>
      </p:sp>
      <p:sp>
        <p:nvSpPr>
          <p:cNvPr id="25" name="Shape 23"/>
          <p:cNvSpPr/>
          <p:nvPr/>
        </p:nvSpPr>
        <p:spPr>
          <a:xfrm>
            <a:off x="9549994" y="3953866"/>
            <a:ext cx="263347" cy="724205"/>
          </a:xfrm>
          <a:prstGeom prst="line">
            <a:avLst/>
          </a:prstGeom>
          <a:noFill/>
          <a:ln w="12700">
            <a:solidFill>
              <a:srgbClr val="223252">
                <a:alpha val="65000"/>
              </a:srgbClr>
            </a:solidFill>
            <a:prstDash val="solid"/>
          </a:ln>
        </p:spPr>
      </p:sp>
      <p:sp>
        <p:nvSpPr>
          <p:cNvPr id="26" name="Shape 24"/>
          <p:cNvSpPr/>
          <p:nvPr/>
        </p:nvSpPr>
        <p:spPr>
          <a:xfrm>
            <a:off x="8233258" y="4414723"/>
            <a:ext cx="855878" cy="131674"/>
          </a:xfrm>
          <a:prstGeom prst="line">
            <a:avLst/>
          </a:prstGeom>
          <a:noFill/>
          <a:ln w="12700">
            <a:solidFill>
              <a:srgbClr val="223252">
                <a:alpha val="65000"/>
              </a:srgbClr>
            </a:solidFill>
            <a:prstDash val="solid"/>
          </a:ln>
        </p:spPr>
      </p:sp>
      <p:sp>
        <p:nvSpPr>
          <p:cNvPr id="27" name="Shape 25"/>
          <p:cNvSpPr/>
          <p:nvPr/>
        </p:nvSpPr>
        <p:spPr>
          <a:xfrm>
            <a:off x="9089136" y="4546397"/>
            <a:ext cx="724205" cy="131674"/>
          </a:xfrm>
          <a:prstGeom prst="line">
            <a:avLst/>
          </a:prstGeom>
          <a:noFill/>
          <a:ln w="12700">
            <a:solidFill>
              <a:srgbClr val="223252">
                <a:alpha val="65000"/>
              </a:srgbClr>
            </a:solidFill>
            <a:prstDash val="solid"/>
          </a:ln>
        </p:spPr>
      </p:sp>
      <p:sp>
        <p:nvSpPr>
          <p:cNvPr id="28" name="Shape 26"/>
          <p:cNvSpPr/>
          <p:nvPr/>
        </p:nvSpPr>
        <p:spPr>
          <a:xfrm>
            <a:off x="7726680" y="1340510"/>
            <a:ext cx="91440" cy="91440"/>
          </a:xfrm>
          <a:prstGeom prst="ellipse">
            <a:avLst/>
          </a:prstGeom>
          <a:solidFill>
            <a:srgbClr val="6C82AC">
              <a:alpha val="75000"/>
            </a:srgbClr>
          </a:solidFill>
          <a:ln/>
        </p:spPr>
      </p:sp>
      <p:sp>
        <p:nvSpPr>
          <p:cNvPr id="29" name="Shape 27"/>
          <p:cNvSpPr/>
          <p:nvPr/>
        </p:nvSpPr>
        <p:spPr>
          <a:xfrm>
            <a:off x="8450885" y="1143000"/>
            <a:ext cx="91440" cy="91440"/>
          </a:xfrm>
          <a:prstGeom prst="ellipse">
            <a:avLst/>
          </a:prstGeom>
          <a:solidFill>
            <a:srgbClr val="6C82AC">
              <a:alpha val="75000"/>
            </a:srgbClr>
          </a:solidFill>
          <a:ln/>
        </p:spPr>
      </p:sp>
      <p:sp>
        <p:nvSpPr>
          <p:cNvPr id="30" name="Shape 28"/>
          <p:cNvSpPr/>
          <p:nvPr/>
        </p:nvSpPr>
        <p:spPr>
          <a:xfrm>
            <a:off x="9218066" y="1515161"/>
            <a:ext cx="137160" cy="137160"/>
          </a:xfrm>
          <a:prstGeom prst="ellipse">
            <a:avLst/>
          </a:prstGeom>
          <a:solidFill>
            <a:srgbClr val="F5A524">
              <a:alpha val="95000"/>
            </a:srgbClr>
          </a:solidFill>
          <a:ln/>
        </p:spPr>
      </p:sp>
      <p:sp>
        <p:nvSpPr>
          <p:cNvPr id="31" name="Shape 29"/>
          <p:cNvSpPr/>
          <p:nvPr/>
        </p:nvSpPr>
        <p:spPr>
          <a:xfrm>
            <a:off x="9899294" y="1208837"/>
            <a:ext cx="91440" cy="91440"/>
          </a:xfrm>
          <a:prstGeom prst="ellipse">
            <a:avLst/>
          </a:prstGeom>
          <a:solidFill>
            <a:srgbClr val="6C82AC">
              <a:alpha val="75000"/>
            </a:srgbClr>
          </a:solidFill>
          <a:ln/>
        </p:spPr>
      </p:sp>
      <p:sp>
        <p:nvSpPr>
          <p:cNvPr id="32" name="Shape 30"/>
          <p:cNvSpPr/>
          <p:nvPr/>
        </p:nvSpPr>
        <p:spPr>
          <a:xfrm>
            <a:off x="7463333" y="2196389"/>
            <a:ext cx="91440" cy="91440"/>
          </a:xfrm>
          <a:prstGeom prst="ellipse">
            <a:avLst/>
          </a:prstGeom>
          <a:solidFill>
            <a:srgbClr val="6C82AC">
              <a:alpha val="75000"/>
            </a:srgbClr>
          </a:solidFill>
          <a:ln/>
        </p:spPr>
      </p:sp>
      <p:sp>
        <p:nvSpPr>
          <p:cNvPr id="33" name="Shape 31"/>
          <p:cNvSpPr/>
          <p:nvPr/>
        </p:nvSpPr>
        <p:spPr>
          <a:xfrm>
            <a:off x="8253374" y="1998878"/>
            <a:ext cx="91440" cy="91440"/>
          </a:xfrm>
          <a:prstGeom prst="ellipse">
            <a:avLst/>
          </a:prstGeom>
          <a:solidFill>
            <a:srgbClr val="6C82AC">
              <a:alpha val="75000"/>
            </a:srgbClr>
          </a:solidFill>
          <a:ln/>
        </p:spPr>
      </p:sp>
      <p:sp>
        <p:nvSpPr>
          <p:cNvPr id="34" name="Shape 32"/>
          <p:cNvSpPr/>
          <p:nvPr/>
        </p:nvSpPr>
        <p:spPr>
          <a:xfrm>
            <a:off x="9043416" y="2393899"/>
            <a:ext cx="91440" cy="91440"/>
          </a:xfrm>
          <a:prstGeom prst="ellipse">
            <a:avLst/>
          </a:prstGeom>
          <a:solidFill>
            <a:srgbClr val="6C82AC">
              <a:alpha val="75000"/>
            </a:srgbClr>
          </a:solidFill>
          <a:ln/>
        </p:spPr>
      </p:sp>
      <p:sp>
        <p:nvSpPr>
          <p:cNvPr id="35" name="Shape 33"/>
          <p:cNvSpPr/>
          <p:nvPr/>
        </p:nvSpPr>
        <p:spPr>
          <a:xfrm>
            <a:off x="9965131" y="2064715"/>
            <a:ext cx="91440" cy="91440"/>
          </a:xfrm>
          <a:prstGeom prst="ellipse">
            <a:avLst/>
          </a:prstGeom>
          <a:solidFill>
            <a:srgbClr val="6C82AC">
              <a:alpha val="75000"/>
            </a:srgbClr>
          </a:solidFill>
          <a:ln/>
        </p:spPr>
      </p:sp>
      <p:sp>
        <p:nvSpPr>
          <p:cNvPr id="36" name="Shape 34"/>
          <p:cNvSpPr/>
          <p:nvPr/>
        </p:nvSpPr>
        <p:spPr>
          <a:xfrm>
            <a:off x="8055864" y="2986430"/>
            <a:ext cx="91440" cy="91440"/>
          </a:xfrm>
          <a:prstGeom prst="ellipse">
            <a:avLst/>
          </a:prstGeom>
          <a:solidFill>
            <a:srgbClr val="6C82AC">
              <a:alpha val="75000"/>
            </a:srgbClr>
          </a:solidFill>
          <a:ln/>
        </p:spPr>
      </p:sp>
      <p:sp>
        <p:nvSpPr>
          <p:cNvPr id="37" name="Shape 35"/>
          <p:cNvSpPr/>
          <p:nvPr/>
        </p:nvSpPr>
        <p:spPr>
          <a:xfrm>
            <a:off x="8888882" y="2766060"/>
            <a:ext cx="137160" cy="137160"/>
          </a:xfrm>
          <a:prstGeom prst="ellipse">
            <a:avLst/>
          </a:prstGeom>
          <a:solidFill>
            <a:srgbClr val="F5A524">
              <a:alpha val="95000"/>
            </a:srgbClr>
          </a:solidFill>
          <a:ln/>
        </p:spPr>
      </p:sp>
      <p:sp>
        <p:nvSpPr>
          <p:cNvPr id="38" name="Shape 36"/>
          <p:cNvSpPr/>
          <p:nvPr/>
        </p:nvSpPr>
        <p:spPr>
          <a:xfrm>
            <a:off x="9767621" y="3118104"/>
            <a:ext cx="91440" cy="91440"/>
          </a:xfrm>
          <a:prstGeom prst="ellipse">
            <a:avLst/>
          </a:prstGeom>
          <a:solidFill>
            <a:srgbClr val="6C82AC">
              <a:alpha val="75000"/>
            </a:srgbClr>
          </a:solidFill>
          <a:ln/>
        </p:spPr>
      </p:sp>
      <p:sp>
        <p:nvSpPr>
          <p:cNvPr id="39" name="Shape 37"/>
          <p:cNvSpPr/>
          <p:nvPr/>
        </p:nvSpPr>
        <p:spPr>
          <a:xfrm>
            <a:off x="7792517" y="3710635"/>
            <a:ext cx="91440" cy="91440"/>
          </a:xfrm>
          <a:prstGeom prst="ellipse">
            <a:avLst/>
          </a:prstGeom>
          <a:solidFill>
            <a:srgbClr val="6C82AC">
              <a:alpha val="75000"/>
            </a:srgbClr>
          </a:solidFill>
          <a:ln/>
        </p:spPr>
      </p:sp>
      <p:sp>
        <p:nvSpPr>
          <p:cNvPr id="40" name="Shape 38"/>
          <p:cNvSpPr/>
          <p:nvPr/>
        </p:nvSpPr>
        <p:spPr>
          <a:xfrm>
            <a:off x="8648395" y="3578962"/>
            <a:ext cx="91440" cy="91440"/>
          </a:xfrm>
          <a:prstGeom prst="ellipse">
            <a:avLst/>
          </a:prstGeom>
          <a:solidFill>
            <a:srgbClr val="6C82AC">
              <a:alpha val="75000"/>
            </a:srgbClr>
          </a:solidFill>
          <a:ln/>
        </p:spPr>
      </p:sp>
      <p:sp>
        <p:nvSpPr>
          <p:cNvPr id="41" name="Shape 39"/>
          <p:cNvSpPr/>
          <p:nvPr/>
        </p:nvSpPr>
        <p:spPr>
          <a:xfrm>
            <a:off x="9504274" y="3908146"/>
            <a:ext cx="91440" cy="91440"/>
          </a:xfrm>
          <a:prstGeom prst="ellipse">
            <a:avLst/>
          </a:prstGeom>
          <a:solidFill>
            <a:srgbClr val="6C82AC">
              <a:alpha val="75000"/>
            </a:srgbClr>
          </a:solidFill>
          <a:ln/>
        </p:spPr>
      </p:sp>
      <p:sp>
        <p:nvSpPr>
          <p:cNvPr id="42" name="Shape 40"/>
          <p:cNvSpPr/>
          <p:nvPr/>
        </p:nvSpPr>
        <p:spPr>
          <a:xfrm>
            <a:off x="10096805" y="3644798"/>
            <a:ext cx="91440" cy="91440"/>
          </a:xfrm>
          <a:prstGeom prst="ellipse">
            <a:avLst/>
          </a:prstGeom>
          <a:solidFill>
            <a:srgbClr val="6C82AC">
              <a:alpha val="75000"/>
            </a:srgbClr>
          </a:solidFill>
          <a:ln/>
        </p:spPr>
      </p:sp>
      <p:sp>
        <p:nvSpPr>
          <p:cNvPr id="43" name="Shape 41"/>
          <p:cNvSpPr/>
          <p:nvPr/>
        </p:nvSpPr>
        <p:spPr>
          <a:xfrm>
            <a:off x="8187538" y="4369003"/>
            <a:ext cx="91440" cy="91440"/>
          </a:xfrm>
          <a:prstGeom prst="ellipse">
            <a:avLst/>
          </a:prstGeom>
          <a:solidFill>
            <a:srgbClr val="6C82AC">
              <a:alpha val="75000"/>
            </a:srgbClr>
          </a:solidFill>
          <a:ln/>
        </p:spPr>
      </p:sp>
      <p:sp>
        <p:nvSpPr>
          <p:cNvPr id="44" name="Shape 42"/>
          <p:cNvSpPr/>
          <p:nvPr/>
        </p:nvSpPr>
        <p:spPr>
          <a:xfrm>
            <a:off x="9020556" y="4477817"/>
            <a:ext cx="137160" cy="137160"/>
          </a:xfrm>
          <a:prstGeom prst="ellipse">
            <a:avLst/>
          </a:prstGeom>
          <a:solidFill>
            <a:srgbClr val="F5A524">
              <a:alpha val="95000"/>
            </a:srgbClr>
          </a:solidFill>
          <a:ln/>
        </p:spPr>
      </p:sp>
      <p:sp>
        <p:nvSpPr>
          <p:cNvPr id="45" name="Shape 43"/>
          <p:cNvSpPr/>
          <p:nvPr/>
        </p:nvSpPr>
        <p:spPr>
          <a:xfrm>
            <a:off x="9767621" y="4632350"/>
            <a:ext cx="91440" cy="91440"/>
          </a:xfrm>
          <a:prstGeom prst="ellipse">
            <a:avLst/>
          </a:prstGeom>
          <a:solidFill>
            <a:srgbClr val="6C82AC">
              <a:alpha val="75000"/>
            </a:srgbClr>
          </a:solidFill>
          <a:ln/>
        </p:spPr>
      </p:sp>
      <p:sp>
        <p:nvSpPr>
          <p:cNvPr id="46" name="Text 44"/>
          <p:cNvSpPr txBox="1"/>
          <p:nvPr/>
        </p:nvSpPr>
        <p:spPr>
          <a:xfrm>
            <a:off x="502920" y="1874520"/>
            <a:ext cx="7315200" cy="320040"/>
          </a:xfrm>
          <a:prstGeom prst="rect">
            <a:avLst/>
          </a:prstGeom>
          <a:noFill/>
          <a:ln/>
        </p:spPr>
        <p:txBody>
          <a:bodyPr wrap="square" lIns="0" tIns="0" rIns="0" bIns="0" rtlCol="0" anchor="ctr"/>
          <a:lstStyle/>
          <a:p>
            <a:pPr indent="0" marL="0">
              <a:buNone/>
            </a:pPr>
            <a:r>
              <a:rPr lang="en-US" sz="1300" b="1" spc="200" kern="0" dirty="0">
                <a:solidFill>
                  <a:srgbClr val="F5A524"/>
                </a:solidFill>
                <a:latin typeface="Leelawadee UI" pitchFamily="34" charset="0"/>
                <a:ea typeface="Leelawadee UI" pitchFamily="34" charset="-122"/>
                <a:cs typeface="Leelawadee UI" pitchFamily="34" charset="-120"/>
              </a:rPr>
              <a:t>TECH STACK  ·  CONCEPT การทำงาน</a:t>
            </a:r>
            <a:endParaRPr lang="en-US" sz="1300" dirty="0"/>
          </a:p>
        </p:txBody>
      </p:sp>
      <p:sp>
        <p:nvSpPr>
          <p:cNvPr id="47" name="Text 45"/>
          <p:cNvSpPr txBox="1"/>
          <p:nvPr/>
        </p:nvSpPr>
        <p:spPr>
          <a:xfrm>
            <a:off x="502920" y="2212848"/>
            <a:ext cx="8229600" cy="1051560"/>
          </a:xfrm>
          <a:prstGeom prst="rect">
            <a:avLst/>
          </a:prstGeom>
          <a:noFill/>
          <a:ln/>
        </p:spPr>
        <p:txBody>
          <a:bodyPr wrap="square" lIns="0" tIns="0" rIns="0" bIns="0" rtlCol="0" anchor="ctr"/>
          <a:lstStyle/>
          <a:p>
            <a:pPr indent="0" marL="0">
              <a:buNone/>
            </a:pPr>
            <a:r>
              <a:rPr lang="en-US" sz="5800" b="1" dirty="0">
                <a:solidFill>
                  <a:srgbClr val="FFFFFF"/>
                </a:solidFill>
                <a:latin typeface="Leelawadee UI" pitchFamily="34" charset="0"/>
                <a:ea typeface="Leelawadee UI" pitchFamily="34" charset="-122"/>
                <a:cs typeface="Leelawadee UI" pitchFamily="34" charset="-120"/>
              </a:rPr>
              <a:t>GraphMind</a:t>
            </a:r>
            <a:endParaRPr lang="en-US" sz="5800" dirty="0"/>
          </a:p>
        </p:txBody>
      </p:sp>
      <p:sp>
        <p:nvSpPr>
          <p:cNvPr id="48" name="Text 46"/>
          <p:cNvSpPr txBox="1"/>
          <p:nvPr/>
        </p:nvSpPr>
        <p:spPr>
          <a:xfrm>
            <a:off x="502920" y="3200400"/>
            <a:ext cx="7863840" cy="457200"/>
          </a:xfrm>
          <a:prstGeom prst="rect">
            <a:avLst/>
          </a:prstGeom>
          <a:noFill/>
          <a:ln/>
        </p:spPr>
        <p:txBody>
          <a:bodyPr wrap="square" lIns="0" tIns="0" rIns="0" bIns="0" rtlCol="0" anchor="ctr"/>
          <a:lstStyle/>
          <a:p>
            <a:pPr indent="0" marL="0">
              <a:buNone/>
            </a:pPr>
            <a:r>
              <a:rPr lang="en-US" sz="2000" dirty="0">
                <a:solidFill>
                  <a:srgbClr val="AEB9D6"/>
                </a:solidFill>
                <a:latin typeface="Leelawadee UI" pitchFamily="34" charset="0"/>
                <a:ea typeface="Leelawadee UI" pitchFamily="34" charset="-122"/>
                <a:cs typeface="Leelawadee UI" pitchFamily="34" charset="-120"/>
              </a:rPr>
              <a:t>Fruit Ontology &amp; Knowledge Graph Chatbot</a:t>
            </a:r>
            <a:endParaRPr lang="en-US" sz="2000" dirty="0"/>
          </a:p>
        </p:txBody>
      </p:sp>
      <p:sp>
        <p:nvSpPr>
          <p:cNvPr id="49" name="Text 47"/>
          <p:cNvSpPr txBox="1"/>
          <p:nvPr/>
        </p:nvSpPr>
        <p:spPr>
          <a:xfrm>
            <a:off x="502920" y="3794760"/>
            <a:ext cx="6766560" cy="822960"/>
          </a:xfrm>
          <a:prstGeom prst="rect">
            <a:avLst/>
          </a:prstGeom>
          <a:noFill/>
          <a:ln/>
        </p:spPr>
        <p:txBody>
          <a:bodyPr wrap="square" lIns="0" tIns="0" rIns="0" bIns="0" rtlCol="0" anchor="ctr"/>
          <a:lstStyle/>
          <a:p>
            <a:pPr indent="0" marL="0">
              <a:lnSpc>
                <a:spcPct val="135000"/>
              </a:lnSpc>
              <a:buNone/>
            </a:pPr>
            <a:r>
              <a:rPr lang="en-US" sz="1350" dirty="0">
                <a:solidFill>
                  <a:srgbClr val="8C9BC2"/>
                </a:solidFill>
                <a:latin typeface="Leelawadee UI" pitchFamily="34" charset="0"/>
                <a:ea typeface="Leelawadee UI" pitchFamily="34" charset="-122"/>
                <a:cs typeface="Leelawadee UI" pitchFamily="34" charset="-120"/>
              </a:rPr>
              <a:t>สรุปแนวทางการออกแบบ Tech Stack และแนวคิดการทำงานของระบบถามตอบภาษาธรรมชาติ ที่ใช้ Ontology, Knowledge Graph (SPARQL) และ Local LLM เพื่อให้คำตอบที่มีหลักฐานอ้างอิงจริง</a:t>
            </a:r>
            <a:endParaRPr lang="en-US" sz="1350" dirty="0"/>
          </a:p>
        </p:txBody>
      </p:sp>
      <p:sp>
        <p:nvSpPr>
          <p:cNvPr id="50" name="Shape 48"/>
          <p:cNvSpPr/>
          <p:nvPr/>
        </p:nvSpPr>
        <p:spPr>
          <a:xfrm>
            <a:off x="502920" y="5623560"/>
            <a:ext cx="914400" cy="0"/>
          </a:xfrm>
          <a:prstGeom prst="line">
            <a:avLst/>
          </a:prstGeom>
          <a:noFill/>
          <a:ln w="25400">
            <a:solidFill>
              <a:srgbClr val="F5A524"/>
            </a:solidFill>
            <a:prstDash val="solid"/>
          </a:ln>
        </p:spPr>
      </p:sp>
      <p:sp>
        <p:nvSpPr>
          <p:cNvPr id="51" name="Text 49"/>
          <p:cNvSpPr txBox="1"/>
          <p:nvPr/>
        </p:nvSpPr>
        <p:spPr>
          <a:xfrm>
            <a:off x="502920" y="5779008"/>
            <a:ext cx="5486400" cy="292608"/>
          </a:xfrm>
          <a:prstGeom prst="rect">
            <a:avLst/>
          </a:prstGeom>
          <a:noFill/>
          <a:ln/>
        </p:spPr>
        <p:txBody>
          <a:bodyPr wrap="square" lIns="0" tIns="0" rIns="0" bIns="0" rtlCol="0" anchor="ctr"/>
          <a:lstStyle/>
          <a:p>
            <a:pPr indent="0" marL="0">
              <a:buNone/>
            </a:pPr>
            <a:r>
              <a:rPr lang="en-US" sz="1250" dirty="0">
                <a:solidFill>
                  <a:srgbClr val="AEB9D6"/>
                </a:solidFill>
                <a:latin typeface="Leelawadee UI" pitchFamily="34" charset="0"/>
                <a:ea typeface="Leelawadee UI" pitchFamily="34" charset="-122"/>
                <a:cs typeface="Leelawadee UI" pitchFamily="34" charset="-120"/>
              </a:rPr>
              <a:t>จัดทำโดย Poonchub  ·  Sura Methi</a:t>
            </a:r>
            <a:endParaRPr lang="en-US" sz="1250" dirty="0"/>
          </a:p>
        </p:txBody>
      </p:sp>
      <p:sp>
        <p:nvSpPr>
          <p:cNvPr id="52" name="Text 50"/>
          <p:cNvSpPr txBox="1"/>
          <p:nvPr/>
        </p:nvSpPr>
        <p:spPr>
          <a:xfrm>
            <a:off x="502920" y="6053328"/>
            <a:ext cx="5486400" cy="274320"/>
          </a:xfrm>
          <a:prstGeom prst="rect">
            <a:avLst/>
          </a:prstGeom>
          <a:noFill/>
          <a:ln/>
        </p:spPr>
        <p:txBody>
          <a:bodyPr wrap="square" lIns="0" tIns="0" rIns="0" bIns="0" rtlCol="0" anchor="ctr"/>
          <a:lstStyle/>
          <a:p>
            <a:pPr indent="0" marL="0">
              <a:buNone/>
            </a:pPr>
            <a:r>
              <a:rPr lang="en-US" sz="1150" dirty="0">
                <a:solidFill>
                  <a:srgbClr val="6C7EA6"/>
                </a:solidFill>
                <a:latin typeface="Leelawadee UI" pitchFamily="34" charset="0"/>
                <a:ea typeface="Leelawadee UI" pitchFamily="34" charset="-122"/>
                <a:cs typeface="Leelawadee UI" pitchFamily="34" charset="-120"/>
              </a:rPr>
              <a:t>9 กันยายน 2569</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algn="l" indent="0" marL="0">
              <a:buNone/>
            </a:pPr>
            <a:r>
              <a:rPr lang="en-US" sz="1250" b="1" spc="200" kern="0" dirty="0">
                <a:solidFill>
                  <a:srgbClr val="F5A524"/>
                </a:solidFill>
                <a:latin typeface="Leelawadee UI" pitchFamily="34" charset="0"/>
                <a:ea typeface="Leelawadee UI" pitchFamily="34" charset="-122"/>
                <a:cs typeface="Leelawadee UI" pitchFamily="34" charset="-120"/>
              </a:rPr>
              <a:t>PROJECT OVERVIEW</a:t>
            </a:r>
            <a:endParaRPr lang="en-US" sz="1250" dirty="0"/>
          </a:p>
        </p:txBody>
      </p:sp>
      <p:sp>
        <p:nvSpPr>
          <p:cNvPr id="3" name="Text 1"/>
          <p:cNvSpPr txBox="1"/>
          <p:nvPr/>
        </p:nvSpPr>
        <p:spPr>
          <a:xfrm>
            <a:off x="502920" y="457200"/>
            <a:ext cx="11185855" cy="685800"/>
          </a:xfrm>
          <a:prstGeom prst="rect">
            <a:avLst/>
          </a:prstGeom>
          <a:noFill/>
          <a:ln/>
        </p:spPr>
        <p:txBody>
          <a:bodyPr wrap="square" lIns="0" tIns="0" rIns="0" bIns="0" rtlCol="0" anchor="t"/>
          <a:lstStyle/>
          <a:p>
            <a:pPr algn="l" indent="0" marL="0">
              <a:buNone/>
            </a:pPr>
            <a:r>
              <a:rPr lang="en-US" sz="3000" b="1" dirty="0">
                <a:solidFill>
                  <a:srgbClr val="0F1B33"/>
                </a:solidFill>
                <a:latin typeface="Leelawadee UI" pitchFamily="34" charset="0"/>
                <a:ea typeface="Leelawadee UI" pitchFamily="34" charset="-122"/>
                <a:cs typeface="Leelawadee UI" pitchFamily="34" charset="-120"/>
              </a:rPr>
              <a:t>ภาพรวมโปรเจกต์: ถามตอบเรื่องผลไม้ด้วย Knowledge Graph</a:t>
            </a:r>
            <a:endParaRPr lang="en-US" sz="3000" dirty="0"/>
          </a:p>
        </p:txBody>
      </p:sp>
      <p:sp>
        <p:nvSpPr>
          <p:cNvPr id="4" name="Text 2"/>
          <p:cNvSpPr txBox="1"/>
          <p:nvPr/>
        </p:nvSpPr>
        <p:spPr>
          <a:xfrm>
            <a:off x="502920" y="1481328"/>
            <a:ext cx="6400800" cy="1051560"/>
          </a:xfrm>
          <a:prstGeom prst="rect">
            <a:avLst/>
          </a:prstGeom>
          <a:noFill/>
          <a:ln/>
        </p:spPr>
        <p:txBody>
          <a:bodyPr wrap="square" lIns="0" tIns="0" rIns="0" bIns="0" rtlCol="0" anchor="ctr"/>
          <a:lstStyle/>
          <a:p>
            <a:pPr indent="0" marL="0">
              <a:lnSpc>
                <a:spcPct val="132000"/>
              </a:lnSpc>
              <a:buNone/>
            </a:pPr>
            <a:r>
              <a:rPr lang="en-US" sz="1450" dirty="0">
                <a:solidFill>
                  <a:srgbClr val="0F1B33"/>
                </a:solidFill>
                <a:latin typeface="Leelawadee UI" pitchFamily="34" charset="0"/>
                <a:ea typeface="Leelawadee UI" pitchFamily="34" charset="-122"/>
                <a:cs typeface="Leelawadee UI" pitchFamily="34" charset="-120"/>
              </a:rPr>
              <a:t>ระบบสาธิตที่ตอบคำถามภาษาธรรมชาติเกี่ยวกับผลไม้ โดยให้ Ontology และ Knowledge Graph เป็น “แหล่งความจริง” (single source of truth) ส่วน Local LLM ทำหน้าที่เพียงแปลภาษาคน ⇄ SPARQL เท่านั้น ไม่ได้เป็นแหล่งข้อมูลเอง</a:t>
            </a:r>
            <a:endParaRPr lang="en-US" sz="1450" dirty="0"/>
          </a:p>
        </p:txBody>
      </p:sp>
      <p:sp>
        <p:nvSpPr>
          <p:cNvPr id="5" name="Text 3"/>
          <p:cNvSpPr txBox="1"/>
          <p:nvPr/>
        </p:nvSpPr>
        <p:spPr>
          <a:xfrm>
            <a:off x="502920" y="2697480"/>
            <a:ext cx="5486400" cy="320040"/>
          </a:xfrm>
          <a:prstGeom prst="rect">
            <a:avLst/>
          </a:prstGeom>
          <a:noFill/>
          <a:ln/>
        </p:spPr>
        <p:txBody>
          <a:bodyPr wrap="square" lIns="0" tIns="0" rIns="0" bIns="0" rtlCol="0" anchor="ctr"/>
          <a:lstStyle/>
          <a:p>
            <a:pPr indent="0" marL="0">
              <a:buNone/>
            </a:pPr>
            <a:r>
              <a:rPr lang="en-US" sz="1550" b="1" dirty="0">
                <a:solidFill>
                  <a:srgbClr val="0F1B33"/>
                </a:solidFill>
                <a:latin typeface="Leelawadee UI" pitchFamily="34" charset="0"/>
                <a:ea typeface="Leelawadee UI" pitchFamily="34" charset="-122"/>
                <a:cs typeface="Leelawadee UI" pitchFamily="34" charset="-120"/>
              </a:rPr>
              <a:t>ขอบเขตข้อมูล (Domain)</a:t>
            </a:r>
            <a:endParaRPr lang="en-US" sz="1550" dirty="0"/>
          </a:p>
        </p:txBody>
      </p:sp>
      <p:sp>
        <p:nvSpPr>
          <p:cNvPr id="6" name="Text 4"/>
          <p:cNvSpPr txBox="1"/>
          <p:nvPr/>
        </p:nvSpPr>
        <p:spPr>
          <a:xfrm>
            <a:off x="502920" y="3127248"/>
            <a:ext cx="6309360" cy="4114800"/>
          </a:xfrm>
          <a:prstGeom prst="rect">
            <a:avLst/>
          </a:prstGeom>
          <a:noFill/>
          <a:ln/>
        </p:spPr>
        <p:txBody>
          <a:bodyPr wrap="square" lIns="0" tIns="0" rIns="0" bIns="0" rtlCol="0" anchor="t"/>
          <a:lstStyle/>
          <a:p>
            <a:pPr marL="228600" indent="-228600">
              <a:lnSpc>
                <a:spcPct val="128000"/>
              </a:lnSpc>
              <a:spcAft>
                <a:spcPts val="800"/>
              </a:spcAft>
              <a:buSzPct val="100000"/>
              <a:buChar char="▪"/>
            </a:pPr>
            <a:r>
              <a:rPr lang="en-US" sz="1350" dirty="0">
                <a:solidFill>
                  <a:srgbClr val="0F1B33"/>
                </a:solidFill>
                <a:latin typeface="Leelawadee UI" pitchFamily="34" charset="0"/>
                <a:ea typeface="Leelawadee UI" pitchFamily="34" charset="-122"/>
                <a:cs typeface="Leelawadee UI" pitchFamily="34" charset="-120"/>
              </a:rPr>
              <a:t>Fruit — ผลไม้แต่ละชนิด เช่น Mango, Durian, Banana, Apple</a:t>
            </a:r>
            <a:endParaRPr lang="en-US" sz="1350" dirty="0"/>
          </a:p>
          <a:p>
            <a:pPr marL="228600" indent="-228600">
              <a:lnSpc>
                <a:spcPct val="128000"/>
              </a:lnSpc>
              <a:spcAft>
                <a:spcPts val="800"/>
              </a:spcAft>
              <a:buSzPct val="100000"/>
              <a:buChar char="▪"/>
            </a:pPr>
            <a:r>
              <a:rPr lang="en-US" sz="1350" dirty="0">
                <a:solidFill>
                  <a:srgbClr val="0F1B33"/>
                </a:solidFill>
                <a:latin typeface="Leelawadee UI" pitchFamily="34" charset="0"/>
                <a:ea typeface="Leelawadee UI" pitchFamily="34" charset="-122"/>
                <a:cs typeface="Leelawadee UI" pitchFamily="34" charset="-120"/>
              </a:rPr>
              <a:t>Color — สีของผลไม้ (Yellow, Green, Red)</a:t>
            </a:r>
            <a:endParaRPr lang="en-US" sz="1350" dirty="0"/>
          </a:p>
          <a:p>
            <a:pPr marL="228600" indent="-228600">
              <a:lnSpc>
                <a:spcPct val="128000"/>
              </a:lnSpc>
              <a:spcAft>
                <a:spcPts val="800"/>
              </a:spcAft>
              <a:buSzPct val="100000"/>
              <a:buChar char="▪"/>
            </a:pPr>
            <a:r>
              <a:rPr lang="en-US" sz="1350" dirty="0">
                <a:solidFill>
                  <a:srgbClr val="0F1B33"/>
                </a:solidFill>
                <a:latin typeface="Leelawadee UI" pitchFamily="34" charset="0"/>
                <a:ea typeface="Leelawadee UI" pitchFamily="34" charset="-122"/>
                <a:cs typeface="Leelawadee UI" pitchFamily="34" charset="-120"/>
              </a:rPr>
              <a:t>FruitCategory — ประเภทผลไม้ (Tropical, Temperate)</a:t>
            </a:r>
            <a:endParaRPr lang="en-US" sz="1350" dirty="0"/>
          </a:p>
          <a:p>
            <a:pPr marL="228600" indent="-228600">
              <a:lnSpc>
                <a:spcPct val="128000"/>
              </a:lnSpc>
              <a:spcAft>
                <a:spcPts val="800"/>
              </a:spcAft>
              <a:buSzPct val="100000"/>
              <a:buChar char="▪"/>
            </a:pPr>
            <a:r>
              <a:rPr lang="en-US" sz="1350" dirty="0">
                <a:solidFill>
                  <a:srgbClr val="0F1B33"/>
                </a:solidFill>
                <a:latin typeface="Leelawadee UI" pitchFamily="34" charset="0"/>
                <a:ea typeface="Leelawadee UI" pitchFamily="34" charset="-122"/>
                <a:cs typeface="Leelawadee UI" pitchFamily="34" charset="-120"/>
              </a:rPr>
              <a:t>Country — ประเทศที่ปลูก (Thailand, Japan)</a:t>
            </a:r>
            <a:endParaRPr lang="en-US" sz="1350" dirty="0"/>
          </a:p>
          <a:p>
            <a:pPr marL="228600" indent="-228600">
              <a:lnSpc>
                <a:spcPct val="128000"/>
              </a:lnSpc>
              <a:spcAft>
                <a:spcPts val="800"/>
              </a:spcAft>
              <a:buSzPct val="100000"/>
              <a:buChar char="▪"/>
            </a:pPr>
            <a:r>
              <a:rPr lang="en-US" sz="1350" dirty="0">
                <a:solidFill>
                  <a:srgbClr val="0F1B33"/>
                </a:solidFill>
                <a:latin typeface="Leelawadee UI" pitchFamily="34" charset="0"/>
                <a:ea typeface="Leelawadee UI" pitchFamily="34" charset="-122"/>
                <a:cs typeface="Leelawadee UI" pitchFamily="34" charset="-120"/>
              </a:rPr>
              <a:t>Sweetness — ระดับความหวาน (ค่าตัวเลข 1–10)</a:t>
            </a:r>
            <a:endParaRPr lang="en-US" sz="1350" dirty="0"/>
          </a:p>
        </p:txBody>
      </p:sp>
      <p:sp>
        <p:nvSpPr>
          <p:cNvPr id="7" name="Shape 5"/>
          <p:cNvSpPr/>
          <p:nvPr/>
        </p:nvSpPr>
        <p:spPr>
          <a:xfrm>
            <a:off x="7360920" y="1481328"/>
            <a:ext cx="4325112" cy="1965960"/>
          </a:xfrm>
          <a:prstGeom prst="roundRect">
            <a:avLst>
              <a:gd name="adj" fmla="val 4651"/>
            </a:avLst>
          </a:prstGeom>
          <a:solidFill>
            <a:srgbClr val="0F1B33"/>
          </a:solidFill>
          <a:ln/>
          <a:effectLst>
            <a:outerShdw sx="100000" sy="100000" kx="0" ky="0" algn="bl" rotWithShape="0" blurRad="127000" dist="38100" dir="5400000">
              <a:srgbClr val="1B2A4A">
                <a:alpha val="28000"/>
              </a:srgbClr>
            </a:outerShdw>
          </a:effectLst>
        </p:spPr>
      </p:sp>
      <p:sp>
        <p:nvSpPr>
          <p:cNvPr id="8" name="Text 6"/>
          <p:cNvSpPr txBox="1"/>
          <p:nvPr/>
        </p:nvSpPr>
        <p:spPr>
          <a:xfrm>
            <a:off x="7360920" y="1627632"/>
            <a:ext cx="4325112" cy="1005840"/>
          </a:xfrm>
          <a:prstGeom prst="rect">
            <a:avLst/>
          </a:prstGeom>
          <a:noFill/>
          <a:ln/>
        </p:spPr>
        <p:txBody>
          <a:bodyPr wrap="square" lIns="0" tIns="0" rIns="0" bIns="0" rtlCol="0" anchor="ctr"/>
          <a:lstStyle/>
          <a:p>
            <a:pPr algn="ctr" indent="0" marL="0">
              <a:buNone/>
            </a:pPr>
            <a:r>
              <a:rPr lang="en-US" sz="6000" b="1" dirty="0">
                <a:solidFill>
                  <a:srgbClr val="F5A524"/>
                </a:solidFill>
                <a:latin typeface="Leelawadee UI" pitchFamily="34" charset="0"/>
                <a:ea typeface="Leelawadee UI" pitchFamily="34" charset="-122"/>
                <a:cs typeface="Leelawadee UI" pitchFamily="34" charset="-120"/>
              </a:rPr>
              <a:t>8</a:t>
            </a:r>
            <a:endParaRPr lang="en-US" sz="6000" dirty="0"/>
          </a:p>
        </p:txBody>
      </p:sp>
      <p:sp>
        <p:nvSpPr>
          <p:cNvPr id="9" name="Text 7"/>
          <p:cNvSpPr txBox="1"/>
          <p:nvPr/>
        </p:nvSpPr>
        <p:spPr>
          <a:xfrm>
            <a:off x="7360920" y="2606040"/>
            <a:ext cx="4325112" cy="320040"/>
          </a:xfrm>
          <a:prstGeom prst="rect">
            <a:avLst/>
          </a:prstGeom>
          <a:noFill/>
          <a:ln/>
        </p:spPr>
        <p:txBody>
          <a:bodyPr wrap="square" lIns="0" tIns="0" rIns="0" bIns="0" rtlCol="0" anchor="ctr"/>
          <a:lstStyle/>
          <a:p>
            <a:pPr algn="ctr" indent="0" marL="0">
              <a:buNone/>
            </a:pPr>
            <a:r>
              <a:rPr lang="en-US" sz="1350" dirty="0">
                <a:solidFill>
                  <a:srgbClr val="CBD5EE"/>
                </a:solidFill>
                <a:latin typeface="Leelawadee UI" pitchFamily="34" charset="0"/>
                <a:ea typeface="Leelawadee UI" pitchFamily="34" charset="-122"/>
                <a:cs typeface="Leelawadee UI" pitchFamily="34" charset="-120"/>
              </a:rPr>
              <a:t>Competency Questions</a:t>
            </a:r>
            <a:endParaRPr lang="en-US" sz="1350" dirty="0"/>
          </a:p>
        </p:txBody>
      </p:sp>
      <p:sp>
        <p:nvSpPr>
          <p:cNvPr id="10" name="Text 8"/>
          <p:cNvSpPr txBox="1"/>
          <p:nvPr/>
        </p:nvSpPr>
        <p:spPr>
          <a:xfrm>
            <a:off x="7360920" y="2926080"/>
            <a:ext cx="4325112" cy="274320"/>
          </a:xfrm>
          <a:prstGeom prst="rect">
            <a:avLst/>
          </a:prstGeom>
          <a:noFill/>
          <a:ln/>
        </p:spPr>
        <p:txBody>
          <a:bodyPr wrap="square" lIns="0" tIns="0" rIns="0" bIns="0" rtlCol="0" anchor="ctr"/>
          <a:lstStyle/>
          <a:p>
            <a:pPr algn="ctr" indent="0" marL="0">
              <a:buNone/>
            </a:pPr>
            <a:r>
              <a:rPr lang="en-US" sz="1050" dirty="0">
                <a:solidFill>
                  <a:srgbClr val="7C8CB4"/>
                </a:solidFill>
                <a:latin typeface="Leelawadee UI" pitchFamily="34" charset="0"/>
                <a:ea typeface="Leelawadee UI" pitchFamily="34" charset="-122"/>
                <a:cs typeface="Leelawadee UI" pitchFamily="34" charset="-120"/>
              </a:rPr>
              <a:t>คำถามที่ระบบต้องตอบได้ถูกต้อง 100%</a:t>
            </a:r>
            <a:endParaRPr lang="en-US" sz="1050" dirty="0"/>
          </a:p>
        </p:txBody>
      </p:sp>
      <p:sp>
        <p:nvSpPr>
          <p:cNvPr id="11" name="Shape 9"/>
          <p:cNvSpPr/>
          <p:nvPr/>
        </p:nvSpPr>
        <p:spPr>
          <a:xfrm>
            <a:off x="7360920" y="3703320"/>
            <a:ext cx="4325112" cy="457200"/>
          </a:xfrm>
          <a:prstGeom prst="roundRect">
            <a:avLst>
              <a:gd name="adj" fmla="val 70000"/>
            </a:avLst>
          </a:prstGeom>
          <a:solidFill>
            <a:srgbClr val="F4F6FA"/>
          </a:solidFill>
          <a:ln/>
        </p:spPr>
      </p:sp>
      <p:pic>
        <p:nvPicPr>
          <p:cNvPr id="12" name="Image 0" descr="/tmp/claude-0/-home-claude/031105a5-f49f-54fe-8ccb-acf4a5fade53/scratchpad/deck/assets/ic_question.png">    </p:cNvPr>
          <p:cNvPicPr>
            <a:picLocks noChangeAspect="1"/>
          </p:cNvPicPr>
          <p:nvPr/>
        </p:nvPicPr>
        <p:blipFill>
          <a:blip r:embed="rId1"/>
          <a:stretch>
            <a:fillRect/>
          </a:stretch>
        </p:blipFill>
        <p:spPr>
          <a:xfrm>
            <a:off x="7452360" y="3767328"/>
            <a:ext cx="329184" cy="329184"/>
          </a:xfrm>
          <a:prstGeom prst="rect">
            <a:avLst/>
          </a:prstGeom>
          <a:effectLst>
            <a:outerShdw sx="100000" sy="100000" kx="0" ky="0" algn="bl" rotWithShape="0" blurRad="76200" dist="25400" dir="5400000">
              <a:srgbClr val="1B2A4A">
                <a:alpha val="28000"/>
              </a:srgbClr>
            </a:outerShdw>
          </a:effectLst>
        </p:spPr>
      </p:pic>
      <p:sp>
        <p:nvSpPr>
          <p:cNvPr id="13" name="Text 10"/>
          <p:cNvSpPr txBox="1"/>
          <p:nvPr/>
        </p:nvSpPr>
        <p:spPr>
          <a:xfrm>
            <a:off x="7891272" y="3703320"/>
            <a:ext cx="3685032" cy="457200"/>
          </a:xfrm>
          <a:prstGeom prst="rect">
            <a:avLst/>
          </a:prstGeom>
          <a:noFill/>
          <a:ln/>
        </p:spPr>
        <p:txBody>
          <a:bodyPr wrap="square" lIns="0" tIns="0" rIns="0" bIns="0" rtlCol="0" anchor="ctr"/>
          <a:lstStyle/>
          <a:p>
            <a:pPr indent="0" marL="0">
              <a:buNone/>
            </a:pPr>
            <a:r>
              <a:rPr lang="en-US" sz="1150" dirty="0">
                <a:solidFill>
                  <a:srgbClr val="0F1B33"/>
                </a:solidFill>
                <a:latin typeface="Leelawadee UI" pitchFamily="34" charset="0"/>
                <a:ea typeface="Leelawadee UI" pitchFamily="34" charset="-122"/>
                <a:cs typeface="Leelawadee UI" pitchFamily="34" charset="-120"/>
              </a:rPr>
              <a:t>“มะม่วงมีสีอะไร?”</a:t>
            </a:r>
            <a:endParaRPr lang="en-US" sz="1150" dirty="0"/>
          </a:p>
        </p:txBody>
      </p:sp>
      <p:sp>
        <p:nvSpPr>
          <p:cNvPr id="14" name="Shape 11"/>
          <p:cNvSpPr/>
          <p:nvPr/>
        </p:nvSpPr>
        <p:spPr>
          <a:xfrm>
            <a:off x="7360920" y="4270248"/>
            <a:ext cx="4325112" cy="457200"/>
          </a:xfrm>
          <a:prstGeom prst="roundRect">
            <a:avLst>
              <a:gd name="adj" fmla="val 70000"/>
            </a:avLst>
          </a:prstGeom>
          <a:solidFill>
            <a:srgbClr val="F4F6FA"/>
          </a:solidFill>
          <a:ln/>
        </p:spPr>
      </p:sp>
      <p:pic>
        <p:nvPicPr>
          <p:cNvPr id="15" name="Image 1" descr="/tmp/claude-0/-home-claude/031105a5-f49f-54fe-8ccb-acf4a5fade53/scratchpad/deck/assets/ic_question.png">    </p:cNvPr>
          <p:cNvPicPr>
            <a:picLocks noChangeAspect="1"/>
          </p:cNvPicPr>
          <p:nvPr/>
        </p:nvPicPr>
        <p:blipFill>
          <a:blip r:embed="rId2"/>
          <a:stretch>
            <a:fillRect/>
          </a:stretch>
        </p:blipFill>
        <p:spPr>
          <a:xfrm>
            <a:off x="7452360" y="4334256"/>
            <a:ext cx="329184" cy="329184"/>
          </a:xfrm>
          <a:prstGeom prst="rect">
            <a:avLst/>
          </a:prstGeom>
          <a:effectLst>
            <a:outerShdw sx="100000" sy="100000" kx="0" ky="0" algn="bl" rotWithShape="0" blurRad="76200" dist="25400" dir="5400000">
              <a:srgbClr val="1B2A4A">
                <a:alpha val="28000"/>
              </a:srgbClr>
            </a:outerShdw>
          </a:effectLst>
        </p:spPr>
      </p:pic>
      <p:sp>
        <p:nvSpPr>
          <p:cNvPr id="16" name="Text 12"/>
          <p:cNvSpPr txBox="1"/>
          <p:nvPr/>
        </p:nvSpPr>
        <p:spPr>
          <a:xfrm>
            <a:off x="7891272" y="4270248"/>
            <a:ext cx="3685032" cy="457200"/>
          </a:xfrm>
          <a:prstGeom prst="rect">
            <a:avLst/>
          </a:prstGeom>
          <a:noFill/>
          <a:ln/>
        </p:spPr>
        <p:txBody>
          <a:bodyPr wrap="square" lIns="0" tIns="0" rIns="0" bIns="0" rtlCol="0" anchor="ctr"/>
          <a:lstStyle/>
          <a:p>
            <a:pPr indent="0" marL="0">
              <a:buNone/>
            </a:pPr>
            <a:r>
              <a:rPr lang="en-US" sz="1150" dirty="0">
                <a:solidFill>
                  <a:srgbClr val="0F1B33"/>
                </a:solidFill>
                <a:latin typeface="Leelawadee UI" pitchFamily="34" charset="0"/>
                <a:ea typeface="Leelawadee UI" pitchFamily="34" charset="-122"/>
                <a:cs typeface="Leelawadee UI" pitchFamily="34" charset="-120"/>
              </a:rPr>
              <a:t>“ผลไม้อะไรปลูกในไทยและสีเหลือง?”</a:t>
            </a:r>
            <a:endParaRPr lang="en-US" sz="1150" dirty="0"/>
          </a:p>
        </p:txBody>
      </p:sp>
      <p:sp>
        <p:nvSpPr>
          <p:cNvPr id="17" name="Shape 13"/>
          <p:cNvSpPr/>
          <p:nvPr/>
        </p:nvSpPr>
        <p:spPr>
          <a:xfrm>
            <a:off x="7360920" y="4837176"/>
            <a:ext cx="4325112" cy="457200"/>
          </a:xfrm>
          <a:prstGeom prst="roundRect">
            <a:avLst>
              <a:gd name="adj" fmla="val 70000"/>
            </a:avLst>
          </a:prstGeom>
          <a:solidFill>
            <a:srgbClr val="F4F6FA"/>
          </a:solidFill>
          <a:ln/>
        </p:spPr>
      </p:sp>
      <p:pic>
        <p:nvPicPr>
          <p:cNvPr id="18" name="Image 2" descr="/tmp/claude-0/-home-claude/031105a5-f49f-54fe-8ccb-acf4a5fade53/scratchpad/deck/assets/ic_question.png">    </p:cNvPr>
          <p:cNvPicPr>
            <a:picLocks noChangeAspect="1"/>
          </p:cNvPicPr>
          <p:nvPr/>
        </p:nvPicPr>
        <p:blipFill>
          <a:blip r:embed="rId3"/>
          <a:stretch>
            <a:fillRect/>
          </a:stretch>
        </p:blipFill>
        <p:spPr>
          <a:xfrm>
            <a:off x="7452360" y="4901184"/>
            <a:ext cx="329184" cy="329184"/>
          </a:xfrm>
          <a:prstGeom prst="rect">
            <a:avLst/>
          </a:prstGeom>
          <a:effectLst>
            <a:outerShdw sx="100000" sy="100000" kx="0" ky="0" algn="bl" rotWithShape="0" blurRad="76200" dist="25400" dir="5400000">
              <a:srgbClr val="1B2A4A">
                <a:alpha val="28000"/>
              </a:srgbClr>
            </a:outerShdw>
          </a:effectLst>
        </p:spPr>
      </p:pic>
      <p:sp>
        <p:nvSpPr>
          <p:cNvPr id="19" name="Text 14"/>
          <p:cNvSpPr txBox="1"/>
          <p:nvPr/>
        </p:nvSpPr>
        <p:spPr>
          <a:xfrm>
            <a:off x="7891272" y="4837176"/>
            <a:ext cx="3685032" cy="457200"/>
          </a:xfrm>
          <a:prstGeom prst="rect">
            <a:avLst/>
          </a:prstGeom>
          <a:noFill/>
          <a:ln/>
        </p:spPr>
        <p:txBody>
          <a:bodyPr wrap="square" lIns="0" tIns="0" rIns="0" bIns="0" rtlCol="0" anchor="ctr"/>
          <a:lstStyle/>
          <a:p>
            <a:pPr indent="0" marL="0">
              <a:buNone/>
            </a:pPr>
            <a:r>
              <a:rPr lang="en-US" sz="1150" dirty="0">
                <a:solidFill>
                  <a:srgbClr val="0F1B33"/>
                </a:solidFill>
                <a:latin typeface="Leelawadee UI" pitchFamily="34" charset="0"/>
                <a:ea typeface="Leelawadee UI" pitchFamily="34" charset="-122"/>
                <a:cs typeface="Leelawadee UI" pitchFamily="34" charset="-120"/>
              </a:rPr>
              <a:t>“ผลไม้อะไรความหวาน ≥ 7?”</a:t>
            </a:r>
            <a:endParaRPr lang="en-US" sz="1150" dirty="0"/>
          </a:p>
        </p:txBody>
      </p:sp>
      <p:sp>
        <p:nvSpPr>
          <p:cNvPr id="21" name="Text 15"/>
          <p:cNvSpPr txBox="1"/>
          <p:nvPr/>
        </p:nvSpPr>
        <p:spPr>
          <a:xfrm>
            <a:off x="502920" y="6473952"/>
            <a:ext cx="7315200" cy="274320"/>
          </a:xfrm>
          <a:prstGeom prst="rect">
            <a:avLst/>
          </a:prstGeom>
          <a:noFill/>
          <a:ln/>
        </p:spPr>
        <p:txBody>
          <a:bodyPr wrap="square" lIns="0" tIns="0" rIns="0" bIns="0" rtlCol="0" anchor="ctr"/>
          <a:lstStyle/>
          <a:p>
            <a:pPr algn="l" indent="0" marL="0">
              <a:buNone/>
            </a:pPr>
            <a:r>
              <a:rPr lang="en-US" sz="1000" dirty="0">
                <a:solidFill>
                  <a:srgbClr val="5B6B85"/>
                </a:solidFill>
                <a:latin typeface="Leelawadee UI" pitchFamily="34" charset="0"/>
                <a:ea typeface="Leelawadee UI" pitchFamily="34" charset="-122"/>
                <a:cs typeface="Leelawadee UI" pitchFamily="34" charset="-120"/>
              </a:rPr>
              <a:t>GraphMind — Tech Stack &amp; Concept</a:t>
            </a:r>
            <a:endParaRPr lang="en-US" sz="1000" dirty="0"/>
          </a:p>
        </p:txBody>
      </p:sp>
      <p:sp>
        <p:nvSpPr>
          <p:cNvPr id="22" name="Text 16"/>
          <p:cNvSpPr txBox="1"/>
          <p:nvPr/>
        </p:nvSpPr>
        <p:spPr>
          <a:xfrm>
            <a:off x="11140135" y="6473952"/>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Leelawadee UI" pitchFamily="34" charset="0"/>
                <a:ea typeface="Leelawadee UI" pitchFamily="34" charset="-122"/>
                <a:cs typeface="Leelawadee U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algn="l" indent="0" marL="0">
              <a:buNone/>
            </a:pPr>
            <a:r>
              <a:rPr lang="en-US" sz="1250" b="1" spc="200" kern="0" dirty="0">
                <a:solidFill>
                  <a:srgbClr val="F5A524"/>
                </a:solidFill>
                <a:latin typeface="Leelawadee UI" pitchFamily="34" charset="0"/>
                <a:ea typeface="Leelawadee UI" pitchFamily="34" charset="-122"/>
                <a:cs typeface="Leelawadee UI" pitchFamily="34" charset="-120"/>
              </a:rPr>
              <a:t>SYSTEM ARCHITECTURE</a:t>
            </a:r>
            <a:endParaRPr lang="en-US" sz="1250" dirty="0"/>
          </a:p>
        </p:txBody>
      </p:sp>
      <p:sp>
        <p:nvSpPr>
          <p:cNvPr id="3" name="Text 1"/>
          <p:cNvSpPr txBox="1"/>
          <p:nvPr/>
        </p:nvSpPr>
        <p:spPr>
          <a:xfrm>
            <a:off x="502920" y="457200"/>
            <a:ext cx="11185855" cy="685800"/>
          </a:xfrm>
          <a:prstGeom prst="rect">
            <a:avLst/>
          </a:prstGeom>
          <a:noFill/>
          <a:ln/>
        </p:spPr>
        <p:txBody>
          <a:bodyPr wrap="square" lIns="0" tIns="0" rIns="0" bIns="0" rtlCol="0" anchor="t"/>
          <a:lstStyle/>
          <a:p>
            <a:pPr algn="l" indent="0" marL="0">
              <a:buNone/>
            </a:pPr>
            <a:r>
              <a:rPr lang="en-US" sz="3000" b="1" dirty="0">
                <a:solidFill>
                  <a:srgbClr val="0F1B33"/>
                </a:solidFill>
                <a:latin typeface="Leelawadee UI" pitchFamily="34" charset="0"/>
                <a:ea typeface="Leelawadee UI" pitchFamily="34" charset="-122"/>
                <a:cs typeface="Leelawadee UI" pitchFamily="34" charset="-120"/>
              </a:rPr>
              <a:t>สถาปัตยกรรมระบบ: องค์ประกอบและการเชื่อมต่อ</a:t>
            </a:r>
            <a:endParaRPr lang="en-US" sz="3000" dirty="0"/>
          </a:p>
        </p:txBody>
      </p:sp>
      <p:sp>
        <p:nvSpPr>
          <p:cNvPr id="4" name="Shape 2"/>
          <p:cNvSpPr/>
          <p:nvPr/>
        </p:nvSpPr>
        <p:spPr>
          <a:xfrm>
            <a:off x="502920" y="3200400"/>
            <a:ext cx="2331720" cy="1371600"/>
          </a:xfrm>
          <a:prstGeom prst="roundRect">
            <a:avLst>
              <a:gd name="adj" fmla="val 6667"/>
            </a:avLst>
          </a:prstGeom>
          <a:solidFill>
            <a:srgbClr val="F4F6FA"/>
          </a:solidFill>
          <a:ln w="12700">
            <a:solidFill>
              <a:srgbClr val="E3E8F0"/>
            </a:solidFill>
            <a:prstDash val="solid"/>
          </a:ln>
          <a:effectLst>
            <a:outerShdw sx="100000" sy="100000" kx="0" ky="0" algn="bl" rotWithShape="0" blurRad="127000" dist="38100" dir="5400000">
              <a:srgbClr val="1B2A4A">
                <a:alpha val="28000"/>
              </a:srgbClr>
            </a:outerShdw>
          </a:effectLst>
        </p:spPr>
      </p:sp>
      <p:pic>
        <p:nvPicPr>
          <p:cNvPr id="5" name="Image 0" descr="/tmp/claude-0/-home-claude/031105a5-f49f-54fe-8ccb-acf4a5fade53/scratchpad/deck/assets/ic_question.png">    </p:cNvPr>
          <p:cNvPicPr>
            <a:picLocks noChangeAspect="1"/>
          </p:cNvPicPr>
          <p:nvPr/>
        </p:nvPicPr>
        <p:blipFill>
          <a:blip r:embed="rId1"/>
          <a:stretch>
            <a:fillRect/>
          </a:stretch>
        </p:blipFill>
        <p:spPr>
          <a:xfrm>
            <a:off x="1357884" y="3364992"/>
            <a:ext cx="621792" cy="621792"/>
          </a:xfrm>
          <a:prstGeom prst="rect">
            <a:avLst/>
          </a:prstGeom>
          <a:effectLst>
            <a:outerShdw sx="100000" sy="100000" kx="0" ky="0" algn="bl" rotWithShape="0" blurRad="76200" dist="25400" dir="5400000">
              <a:srgbClr val="1B2A4A">
                <a:alpha val="28000"/>
              </a:srgbClr>
            </a:outerShdw>
          </a:effectLst>
        </p:spPr>
      </p:pic>
      <p:sp>
        <p:nvSpPr>
          <p:cNvPr id="6" name="Text 3"/>
          <p:cNvSpPr txBox="1"/>
          <p:nvPr/>
        </p:nvSpPr>
        <p:spPr>
          <a:xfrm>
            <a:off x="502920" y="4041648"/>
            <a:ext cx="2331720" cy="292608"/>
          </a:xfrm>
          <a:prstGeom prst="rect">
            <a:avLst/>
          </a:prstGeom>
          <a:noFill/>
          <a:ln/>
        </p:spPr>
        <p:txBody>
          <a:bodyPr wrap="square" lIns="0" tIns="0" rIns="0" bIns="0" rtlCol="0" anchor="ctr"/>
          <a:lstStyle/>
          <a:p>
            <a:pPr algn="ctr" indent="0" marL="0">
              <a:buNone/>
            </a:pPr>
            <a:r>
              <a:rPr lang="en-US" sz="1450" b="1" dirty="0">
                <a:solidFill>
                  <a:srgbClr val="0F1B33"/>
                </a:solidFill>
                <a:latin typeface="Leelawadee UI" pitchFamily="34" charset="0"/>
                <a:ea typeface="Leelawadee UI" pitchFamily="34" charset="-122"/>
                <a:cs typeface="Leelawadee UI" pitchFamily="34" charset="-120"/>
              </a:rPr>
              <a:t>ผู้ใช้</a:t>
            </a:r>
            <a:endParaRPr lang="en-US" sz="1450" dirty="0"/>
          </a:p>
        </p:txBody>
      </p:sp>
      <p:sp>
        <p:nvSpPr>
          <p:cNvPr id="7" name="Text 4"/>
          <p:cNvSpPr txBox="1"/>
          <p:nvPr/>
        </p:nvSpPr>
        <p:spPr>
          <a:xfrm>
            <a:off x="502920" y="4297680"/>
            <a:ext cx="2331720" cy="237744"/>
          </a:xfrm>
          <a:prstGeom prst="rect">
            <a:avLst/>
          </a:prstGeom>
          <a:noFill/>
          <a:ln/>
        </p:spPr>
        <p:txBody>
          <a:bodyPr wrap="square" lIns="0" tIns="0" rIns="0" bIns="0" rtlCol="0" anchor="ctr"/>
          <a:lstStyle/>
          <a:p>
            <a:pPr algn="ctr" indent="0" marL="0">
              <a:buNone/>
            </a:pPr>
            <a:r>
              <a:rPr lang="en-US" sz="1050" dirty="0">
                <a:solidFill>
                  <a:srgbClr val="5B6B85"/>
                </a:solidFill>
                <a:latin typeface="Leelawadee UI" pitchFamily="34" charset="0"/>
                <a:ea typeface="Leelawadee UI" pitchFamily="34" charset="-122"/>
                <a:cs typeface="Leelawadee UI" pitchFamily="34" charset="-120"/>
              </a:rPr>
              <a:t>User</a:t>
            </a:r>
            <a:endParaRPr lang="en-US" sz="1050" dirty="0"/>
          </a:p>
        </p:txBody>
      </p:sp>
      <p:sp>
        <p:nvSpPr>
          <p:cNvPr id="8" name="Shape 5"/>
          <p:cNvSpPr/>
          <p:nvPr/>
        </p:nvSpPr>
        <p:spPr>
          <a:xfrm>
            <a:off x="3246120" y="3200400"/>
            <a:ext cx="2331720" cy="1371600"/>
          </a:xfrm>
          <a:prstGeom prst="roundRect">
            <a:avLst>
              <a:gd name="adj" fmla="val 6667"/>
            </a:avLst>
          </a:prstGeom>
          <a:solidFill>
            <a:srgbClr val="F4F6FA"/>
          </a:solidFill>
          <a:ln w="12700">
            <a:solidFill>
              <a:srgbClr val="E3E8F0"/>
            </a:solidFill>
            <a:prstDash val="solid"/>
          </a:ln>
          <a:effectLst>
            <a:outerShdw sx="100000" sy="100000" kx="0" ky="0" algn="bl" rotWithShape="0" blurRad="127000" dist="38100" dir="5400000">
              <a:srgbClr val="1B2A4A">
                <a:alpha val="28000"/>
              </a:srgbClr>
            </a:outerShdw>
          </a:effectLst>
        </p:spPr>
      </p:sp>
      <p:pic>
        <p:nvPicPr>
          <p:cNvPr id="9" name="Image 1" descr="/tmp/claude-0/-home-claude/031105a5-f49f-54fe-8ccb-acf4a5fade53/scratchpad/deck/assets/logo_nextjs.png">    </p:cNvPr>
          <p:cNvPicPr>
            <a:picLocks noChangeAspect="1"/>
          </p:cNvPicPr>
          <p:nvPr/>
        </p:nvPicPr>
        <p:blipFill>
          <a:blip r:embed="rId2"/>
          <a:stretch>
            <a:fillRect/>
          </a:stretch>
        </p:blipFill>
        <p:spPr>
          <a:xfrm>
            <a:off x="4101084" y="3364992"/>
            <a:ext cx="621792" cy="621792"/>
          </a:xfrm>
          <a:prstGeom prst="rect">
            <a:avLst/>
          </a:prstGeom>
          <a:effectLst>
            <a:outerShdw sx="100000" sy="100000" kx="0" ky="0" algn="bl" rotWithShape="0" blurRad="76200" dist="25400" dir="5400000">
              <a:srgbClr val="1B2A4A">
                <a:alpha val="28000"/>
              </a:srgbClr>
            </a:outerShdw>
          </a:effectLst>
        </p:spPr>
      </p:pic>
      <p:sp>
        <p:nvSpPr>
          <p:cNvPr id="10" name="Text 6"/>
          <p:cNvSpPr txBox="1"/>
          <p:nvPr/>
        </p:nvSpPr>
        <p:spPr>
          <a:xfrm>
            <a:off x="3246120" y="4041648"/>
            <a:ext cx="2331720" cy="292608"/>
          </a:xfrm>
          <a:prstGeom prst="rect">
            <a:avLst/>
          </a:prstGeom>
          <a:noFill/>
          <a:ln/>
        </p:spPr>
        <p:txBody>
          <a:bodyPr wrap="square" lIns="0" tIns="0" rIns="0" bIns="0" rtlCol="0" anchor="ctr"/>
          <a:lstStyle/>
          <a:p>
            <a:pPr algn="ctr" indent="0" marL="0">
              <a:buNone/>
            </a:pPr>
            <a:r>
              <a:rPr lang="en-US" sz="1450" b="1" dirty="0">
                <a:solidFill>
                  <a:srgbClr val="0F1B33"/>
                </a:solidFill>
                <a:latin typeface="Leelawadee UI" pitchFamily="34" charset="0"/>
                <a:ea typeface="Leelawadee UI" pitchFamily="34" charset="-122"/>
                <a:cs typeface="Leelawadee UI" pitchFamily="34" charset="-120"/>
              </a:rPr>
              <a:t>Frontend</a:t>
            </a:r>
            <a:endParaRPr lang="en-US" sz="1450" dirty="0"/>
          </a:p>
        </p:txBody>
      </p:sp>
      <p:sp>
        <p:nvSpPr>
          <p:cNvPr id="11" name="Text 7"/>
          <p:cNvSpPr txBox="1"/>
          <p:nvPr/>
        </p:nvSpPr>
        <p:spPr>
          <a:xfrm>
            <a:off x="3246120" y="4297680"/>
            <a:ext cx="2331720" cy="237744"/>
          </a:xfrm>
          <a:prstGeom prst="rect">
            <a:avLst/>
          </a:prstGeom>
          <a:noFill/>
          <a:ln/>
        </p:spPr>
        <p:txBody>
          <a:bodyPr wrap="square" lIns="0" tIns="0" rIns="0" bIns="0" rtlCol="0" anchor="ctr"/>
          <a:lstStyle/>
          <a:p>
            <a:pPr algn="ctr" indent="0" marL="0">
              <a:buNone/>
            </a:pPr>
            <a:r>
              <a:rPr lang="en-US" sz="1050" dirty="0">
                <a:solidFill>
                  <a:srgbClr val="5B6B85"/>
                </a:solidFill>
                <a:latin typeface="Leelawadee UI" pitchFamily="34" charset="0"/>
                <a:ea typeface="Leelawadee UI" pitchFamily="34" charset="-122"/>
                <a:cs typeface="Leelawadee UI" pitchFamily="34" charset="-120"/>
              </a:rPr>
              <a:t>Next.js · :3000</a:t>
            </a:r>
            <a:endParaRPr lang="en-US" sz="1050" dirty="0"/>
          </a:p>
        </p:txBody>
      </p:sp>
      <p:sp>
        <p:nvSpPr>
          <p:cNvPr id="12" name="Shape 8"/>
          <p:cNvSpPr/>
          <p:nvPr/>
        </p:nvSpPr>
        <p:spPr>
          <a:xfrm>
            <a:off x="5989320" y="3200400"/>
            <a:ext cx="2331720" cy="1371600"/>
          </a:xfrm>
          <a:prstGeom prst="roundRect">
            <a:avLst>
              <a:gd name="adj" fmla="val 6667"/>
            </a:avLst>
          </a:prstGeom>
          <a:solidFill>
            <a:srgbClr val="F4F6FA"/>
          </a:solidFill>
          <a:ln w="12700">
            <a:solidFill>
              <a:srgbClr val="E3E8F0"/>
            </a:solidFill>
            <a:prstDash val="solid"/>
          </a:ln>
          <a:effectLst>
            <a:outerShdw sx="100000" sy="100000" kx="0" ky="0" algn="bl" rotWithShape="0" blurRad="127000" dist="38100" dir="5400000">
              <a:srgbClr val="1B2A4A">
                <a:alpha val="28000"/>
              </a:srgbClr>
            </a:outerShdw>
          </a:effectLst>
        </p:spPr>
      </p:sp>
      <p:pic>
        <p:nvPicPr>
          <p:cNvPr id="13" name="Image 2" descr="/tmp/claude-0/-home-claude/031105a5-f49f-54fe-8ccb-acf4a5fade53/scratchpad/deck/assets/logo_fastapi.png">    </p:cNvPr>
          <p:cNvPicPr>
            <a:picLocks noChangeAspect="1"/>
          </p:cNvPicPr>
          <p:nvPr/>
        </p:nvPicPr>
        <p:blipFill>
          <a:blip r:embed="rId3"/>
          <a:stretch>
            <a:fillRect/>
          </a:stretch>
        </p:blipFill>
        <p:spPr>
          <a:xfrm>
            <a:off x="6844284" y="3364992"/>
            <a:ext cx="621792" cy="621792"/>
          </a:xfrm>
          <a:prstGeom prst="rect">
            <a:avLst/>
          </a:prstGeom>
          <a:effectLst>
            <a:outerShdw sx="100000" sy="100000" kx="0" ky="0" algn="bl" rotWithShape="0" blurRad="76200" dist="25400" dir="5400000">
              <a:srgbClr val="1B2A4A">
                <a:alpha val="28000"/>
              </a:srgbClr>
            </a:outerShdw>
          </a:effectLst>
        </p:spPr>
      </p:pic>
      <p:sp>
        <p:nvSpPr>
          <p:cNvPr id="14" name="Text 9"/>
          <p:cNvSpPr txBox="1"/>
          <p:nvPr/>
        </p:nvSpPr>
        <p:spPr>
          <a:xfrm>
            <a:off x="5989320" y="4041648"/>
            <a:ext cx="2331720" cy="292608"/>
          </a:xfrm>
          <a:prstGeom prst="rect">
            <a:avLst/>
          </a:prstGeom>
          <a:noFill/>
          <a:ln/>
        </p:spPr>
        <p:txBody>
          <a:bodyPr wrap="square" lIns="0" tIns="0" rIns="0" bIns="0" rtlCol="0" anchor="ctr"/>
          <a:lstStyle/>
          <a:p>
            <a:pPr algn="ctr" indent="0" marL="0">
              <a:buNone/>
            </a:pPr>
            <a:r>
              <a:rPr lang="en-US" sz="1450" b="1" dirty="0">
                <a:solidFill>
                  <a:srgbClr val="0F1B33"/>
                </a:solidFill>
                <a:latin typeface="Leelawadee UI" pitchFamily="34" charset="0"/>
                <a:ea typeface="Leelawadee UI" pitchFamily="34" charset="-122"/>
                <a:cs typeface="Leelawadee UI" pitchFamily="34" charset="-120"/>
              </a:rPr>
              <a:t>Backend</a:t>
            </a:r>
            <a:endParaRPr lang="en-US" sz="1450" dirty="0"/>
          </a:p>
        </p:txBody>
      </p:sp>
      <p:sp>
        <p:nvSpPr>
          <p:cNvPr id="15" name="Text 10"/>
          <p:cNvSpPr txBox="1"/>
          <p:nvPr/>
        </p:nvSpPr>
        <p:spPr>
          <a:xfrm>
            <a:off x="5989320" y="4297680"/>
            <a:ext cx="2331720" cy="237744"/>
          </a:xfrm>
          <a:prstGeom prst="rect">
            <a:avLst/>
          </a:prstGeom>
          <a:noFill/>
          <a:ln/>
        </p:spPr>
        <p:txBody>
          <a:bodyPr wrap="square" lIns="0" tIns="0" rIns="0" bIns="0" rtlCol="0" anchor="ctr"/>
          <a:lstStyle/>
          <a:p>
            <a:pPr algn="ctr" indent="0" marL="0">
              <a:buNone/>
            </a:pPr>
            <a:r>
              <a:rPr lang="en-US" sz="1050" dirty="0">
                <a:solidFill>
                  <a:srgbClr val="5B6B85"/>
                </a:solidFill>
                <a:latin typeface="Leelawadee UI" pitchFamily="34" charset="0"/>
                <a:ea typeface="Leelawadee UI" pitchFamily="34" charset="-122"/>
                <a:cs typeface="Leelawadee UI" pitchFamily="34" charset="-120"/>
              </a:rPr>
              <a:t>FastAPI · :8000</a:t>
            </a:r>
            <a:endParaRPr lang="en-US" sz="1050" dirty="0"/>
          </a:p>
        </p:txBody>
      </p:sp>
      <p:sp>
        <p:nvSpPr>
          <p:cNvPr id="16" name="Shape 11"/>
          <p:cNvSpPr/>
          <p:nvPr/>
        </p:nvSpPr>
        <p:spPr>
          <a:xfrm>
            <a:off x="2834640" y="3886200"/>
            <a:ext cx="411480" cy="914"/>
          </a:xfrm>
          <a:prstGeom prst="line">
            <a:avLst/>
          </a:prstGeom>
          <a:noFill/>
          <a:ln w="28575">
            <a:solidFill>
              <a:srgbClr val="35507A"/>
            </a:solidFill>
            <a:prstDash val="solid"/>
            <a:tailEnd type="triangle"/>
          </a:ln>
        </p:spPr>
      </p:sp>
      <p:sp>
        <p:nvSpPr>
          <p:cNvPr id="17" name="Shape 12"/>
          <p:cNvSpPr/>
          <p:nvPr/>
        </p:nvSpPr>
        <p:spPr>
          <a:xfrm>
            <a:off x="5577840" y="3886200"/>
            <a:ext cx="411480" cy="914"/>
          </a:xfrm>
          <a:prstGeom prst="line">
            <a:avLst/>
          </a:prstGeom>
          <a:noFill/>
          <a:ln w="28575">
            <a:solidFill>
              <a:srgbClr val="35507A"/>
            </a:solidFill>
            <a:prstDash val="solid"/>
            <a:tailEnd type="triangle"/>
          </a:ln>
        </p:spPr>
      </p:sp>
      <p:sp>
        <p:nvSpPr>
          <p:cNvPr id="18" name="Shape 13"/>
          <p:cNvSpPr/>
          <p:nvPr/>
        </p:nvSpPr>
        <p:spPr>
          <a:xfrm>
            <a:off x="9144000" y="2148840"/>
            <a:ext cx="2542032" cy="960120"/>
          </a:xfrm>
          <a:prstGeom prst="roundRect">
            <a:avLst>
              <a:gd name="adj" fmla="val 9524"/>
            </a:avLst>
          </a:prstGeom>
          <a:solidFill>
            <a:srgbClr val="0F1B33"/>
          </a:solidFill>
          <a:ln/>
          <a:effectLst>
            <a:outerShdw sx="100000" sy="100000" kx="0" ky="0" algn="bl" rotWithShape="0" blurRad="127000" dist="38100" dir="5400000">
              <a:srgbClr val="1B2A4A">
                <a:alpha val="28000"/>
              </a:srgbClr>
            </a:outerShdw>
          </a:effectLst>
        </p:spPr>
      </p:sp>
      <p:pic>
        <p:nvPicPr>
          <p:cNvPr id="19" name="Image 3" descr="/tmp/claude-0/-home-claude/031105a5-f49f-54fe-8ccb-acf4a5fade53/scratchpad/deck/assets/logo_ollama.png">    </p:cNvPr>
          <p:cNvPicPr>
            <a:picLocks noChangeAspect="1"/>
          </p:cNvPicPr>
          <p:nvPr/>
        </p:nvPicPr>
        <p:blipFill>
          <a:blip r:embed="rId4"/>
          <a:stretch>
            <a:fillRect/>
          </a:stretch>
        </p:blipFill>
        <p:spPr>
          <a:xfrm>
            <a:off x="9290304" y="2313432"/>
            <a:ext cx="621792" cy="621792"/>
          </a:xfrm>
          <a:prstGeom prst="rect">
            <a:avLst/>
          </a:prstGeom>
          <a:effectLst>
            <a:outerShdw sx="100000" sy="100000" kx="0" ky="0" algn="bl" rotWithShape="0" blurRad="76200" dist="25400" dir="5400000">
              <a:srgbClr val="1B2A4A">
                <a:alpha val="28000"/>
              </a:srgbClr>
            </a:outerShdw>
          </a:effectLst>
        </p:spPr>
      </p:pic>
      <p:sp>
        <p:nvSpPr>
          <p:cNvPr id="20" name="Text 14"/>
          <p:cNvSpPr txBox="1"/>
          <p:nvPr/>
        </p:nvSpPr>
        <p:spPr>
          <a:xfrm>
            <a:off x="10040112" y="2286000"/>
            <a:ext cx="1536192" cy="274320"/>
          </a:xfrm>
          <a:prstGeom prst="rect">
            <a:avLst/>
          </a:prstGeom>
          <a:noFill/>
          <a:ln/>
        </p:spPr>
        <p:txBody>
          <a:bodyPr wrap="square" lIns="0" tIns="0" rIns="0" bIns="0" rtlCol="0" anchor="ctr"/>
          <a:lstStyle/>
          <a:p>
            <a:pPr indent="0" marL="0">
              <a:buNone/>
            </a:pPr>
            <a:r>
              <a:rPr lang="en-US" sz="1250" b="1" dirty="0">
                <a:solidFill>
                  <a:srgbClr val="FFFFFF"/>
                </a:solidFill>
                <a:latin typeface="Leelawadee UI" pitchFamily="34" charset="0"/>
                <a:ea typeface="Leelawadee UI" pitchFamily="34" charset="-122"/>
                <a:cs typeface="Leelawadee UI" pitchFamily="34" charset="-120"/>
              </a:rPr>
              <a:t>Ollama · LLM</a:t>
            </a:r>
            <a:endParaRPr lang="en-US" sz="1250" dirty="0"/>
          </a:p>
        </p:txBody>
      </p:sp>
      <p:sp>
        <p:nvSpPr>
          <p:cNvPr id="21" name="Text 15"/>
          <p:cNvSpPr txBox="1"/>
          <p:nvPr/>
        </p:nvSpPr>
        <p:spPr>
          <a:xfrm>
            <a:off x="10040112" y="2542032"/>
            <a:ext cx="1536192" cy="256032"/>
          </a:xfrm>
          <a:prstGeom prst="rect">
            <a:avLst/>
          </a:prstGeom>
          <a:noFill/>
          <a:ln/>
        </p:spPr>
        <p:txBody>
          <a:bodyPr wrap="square" lIns="0" tIns="0" rIns="0" bIns="0" rtlCol="0" anchor="ctr"/>
          <a:lstStyle/>
          <a:p>
            <a:pPr indent="0" marL="0">
              <a:buNone/>
            </a:pPr>
            <a:r>
              <a:rPr lang="en-US" sz="1000" dirty="0">
                <a:solidFill>
                  <a:srgbClr val="AEB9D6"/>
                </a:solidFill>
                <a:latin typeface="Leelawadee UI" pitchFamily="34" charset="0"/>
                <a:ea typeface="Leelawadee UI" pitchFamily="34" charset="-122"/>
                <a:cs typeface="Leelawadee UI" pitchFamily="34" charset="-120"/>
              </a:rPr>
              <a:t>qwen2.5:3b · :11434</a:t>
            </a:r>
            <a:endParaRPr lang="en-US" sz="1000" dirty="0"/>
          </a:p>
        </p:txBody>
      </p:sp>
      <p:sp>
        <p:nvSpPr>
          <p:cNvPr id="22" name="Shape 16"/>
          <p:cNvSpPr/>
          <p:nvPr/>
        </p:nvSpPr>
        <p:spPr>
          <a:xfrm>
            <a:off x="9144000" y="3794760"/>
            <a:ext cx="2542032" cy="960120"/>
          </a:xfrm>
          <a:prstGeom prst="roundRect">
            <a:avLst>
              <a:gd name="adj" fmla="val 9524"/>
            </a:avLst>
          </a:prstGeom>
          <a:solidFill>
            <a:srgbClr val="0F1B33"/>
          </a:solidFill>
          <a:ln/>
          <a:effectLst>
            <a:outerShdw sx="100000" sy="100000" kx="0" ky="0" algn="bl" rotWithShape="0" blurRad="127000" dist="38100" dir="5400000">
              <a:srgbClr val="1B2A4A">
                <a:alpha val="28000"/>
              </a:srgbClr>
            </a:outerShdw>
          </a:effectLst>
        </p:spPr>
      </p:sp>
      <p:pic>
        <p:nvPicPr>
          <p:cNvPr id="23" name="Image 4" descr="/tmp/claude-0/-home-claude/031105a5-f49f-54fe-8ccb-acf4a5fade53/scratchpad/deck/assets/logo_apache.png">    </p:cNvPr>
          <p:cNvPicPr>
            <a:picLocks noChangeAspect="1"/>
          </p:cNvPicPr>
          <p:nvPr/>
        </p:nvPicPr>
        <p:blipFill>
          <a:blip r:embed="rId5"/>
          <a:stretch>
            <a:fillRect/>
          </a:stretch>
        </p:blipFill>
        <p:spPr>
          <a:xfrm>
            <a:off x="9290304" y="3959352"/>
            <a:ext cx="621792" cy="621792"/>
          </a:xfrm>
          <a:prstGeom prst="rect">
            <a:avLst/>
          </a:prstGeom>
          <a:effectLst>
            <a:outerShdw sx="100000" sy="100000" kx="0" ky="0" algn="bl" rotWithShape="0" blurRad="76200" dist="25400" dir="5400000">
              <a:srgbClr val="1B2A4A">
                <a:alpha val="28000"/>
              </a:srgbClr>
            </a:outerShdw>
          </a:effectLst>
        </p:spPr>
      </p:pic>
      <p:sp>
        <p:nvSpPr>
          <p:cNvPr id="24" name="Text 17"/>
          <p:cNvSpPr txBox="1"/>
          <p:nvPr/>
        </p:nvSpPr>
        <p:spPr>
          <a:xfrm>
            <a:off x="10040112" y="3931920"/>
            <a:ext cx="1536192" cy="274320"/>
          </a:xfrm>
          <a:prstGeom prst="rect">
            <a:avLst/>
          </a:prstGeom>
          <a:noFill/>
          <a:ln/>
        </p:spPr>
        <p:txBody>
          <a:bodyPr wrap="square" lIns="0" tIns="0" rIns="0" bIns="0" rtlCol="0" anchor="ctr"/>
          <a:lstStyle/>
          <a:p>
            <a:pPr indent="0" marL="0">
              <a:buNone/>
            </a:pPr>
            <a:r>
              <a:rPr lang="en-US" sz="1250" b="1" dirty="0">
                <a:solidFill>
                  <a:srgbClr val="FFFFFF"/>
                </a:solidFill>
                <a:latin typeface="Leelawadee UI" pitchFamily="34" charset="0"/>
                <a:ea typeface="Leelawadee UI" pitchFamily="34" charset="-122"/>
                <a:cs typeface="Leelawadee UI" pitchFamily="34" charset="-120"/>
              </a:rPr>
              <a:t>Fuseki · KG</a:t>
            </a:r>
            <a:endParaRPr lang="en-US" sz="1250" dirty="0"/>
          </a:p>
        </p:txBody>
      </p:sp>
      <p:sp>
        <p:nvSpPr>
          <p:cNvPr id="25" name="Text 18"/>
          <p:cNvSpPr txBox="1"/>
          <p:nvPr/>
        </p:nvSpPr>
        <p:spPr>
          <a:xfrm>
            <a:off x="10040112" y="4187952"/>
            <a:ext cx="1536192" cy="256032"/>
          </a:xfrm>
          <a:prstGeom prst="rect">
            <a:avLst/>
          </a:prstGeom>
          <a:noFill/>
          <a:ln/>
        </p:spPr>
        <p:txBody>
          <a:bodyPr wrap="square" lIns="0" tIns="0" rIns="0" bIns="0" rtlCol="0" anchor="ctr"/>
          <a:lstStyle/>
          <a:p>
            <a:pPr indent="0" marL="0">
              <a:buNone/>
            </a:pPr>
            <a:r>
              <a:rPr lang="en-US" sz="1000" dirty="0">
                <a:solidFill>
                  <a:srgbClr val="AEB9D6"/>
                </a:solidFill>
                <a:latin typeface="Leelawadee UI" pitchFamily="34" charset="0"/>
                <a:ea typeface="Leelawadee UI" pitchFamily="34" charset="-122"/>
                <a:cs typeface="Leelawadee UI" pitchFamily="34" charset="-120"/>
              </a:rPr>
              <a:t>SPARQL · :3030 → TDB2</a:t>
            </a:r>
            <a:endParaRPr lang="en-US" sz="1000" dirty="0"/>
          </a:p>
        </p:txBody>
      </p:sp>
      <p:sp>
        <p:nvSpPr>
          <p:cNvPr id="26" name="Shape 19"/>
          <p:cNvSpPr/>
          <p:nvPr/>
        </p:nvSpPr>
        <p:spPr>
          <a:xfrm flipV="1">
            <a:off x="8321040" y="2624328"/>
            <a:ext cx="822960" cy="896112"/>
          </a:xfrm>
          <a:prstGeom prst="line">
            <a:avLst/>
          </a:prstGeom>
          <a:noFill/>
          <a:ln w="28575">
            <a:solidFill>
              <a:srgbClr val="35507A"/>
            </a:solidFill>
            <a:prstDash val="solid"/>
            <a:tailEnd type="triangle"/>
          </a:ln>
        </p:spPr>
      </p:sp>
      <p:sp>
        <p:nvSpPr>
          <p:cNvPr id="27" name="Shape 20"/>
          <p:cNvSpPr/>
          <p:nvPr/>
        </p:nvSpPr>
        <p:spPr>
          <a:xfrm>
            <a:off x="8321040" y="4251960"/>
            <a:ext cx="822960" cy="18288"/>
          </a:xfrm>
          <a:prstGeom prst="line">
            <a:avLst/>
          </a:prstGeom>
          <a:noFill/>
          <a:ln w="28575">
            <a:solidFill>
              <a:srgbClr val="35507A"/>
            </a:solidFill>
            <a:prstDash val="solid"/>
            <a:tailEnd type="triangle"/>
          </a:ln>
        </p:spPr>
      </p:sp>
      <p:sp>
        <p:nvSpPr>
          <p:cNvPr id="28" name="Text 21"/>
          <p:cNvSpPr txBox="1"/>
          <p:nvPr/>
        </p:nvSpPr>
        <p:spPr>
          <a:xfrm>
            <a:off x="502920" y="5074920"/>
            <a:ext cx="11155680" cy="365760"/>
          </a:xfrm>
          <a:prstGeom prst="rect">
            <a:avLst/>
          </a:prstGeom>
          <a:noFill/>
          <a:ln/>
        </p:spPr>
        <p:txBody>
          <a:bodyPr wrap="square" lIns="0" tIns="0" rIns="0" bIns="0" rtlCol="0" anchor="ctr"/>
          <a:lstStyle/>
          <a:p>
            <a:pPr indent="0" marL="0">
              <a:buNone/>
            </a:pPr>
            <a:r>
              <a:rPr lang="en-US" sz="1200" i="1" dirty="0">
                <a:solidFill>
                  <a:srgbClr val="5B6B85"/>
                </a:solidFill>
                <a:latin typeface="Leelawadee UI" pitchFamily="34" charset="0"/>
                <a:ea typeface="Leelawadee UI" pitchFamily="34" charset="-122"/>
                <a:cs typeface="Leelawadee UI" pitchFamily="34" charset="-120"/>
              </a:rPr>
              <a:t>Frontend เรียก Backend ผ่าน REST API · Backend สั่งให้ Ollama สร้าง/สรุป SPARQL และ Query ความรู้จาก Fuseki เสมอ</a:t>
            </a:r>
            <a:endParaRPr lang="en-US" sz="1200" dirty="0"/>
          </a:p>
        </p:txBody>
      </p:sp>
      <p:sp>
        <p:nvSpPr>
          <p:cNvPr id="30" name="Text 22"/>
          <p:cNvSpPr txBox="1"/>
          <p:nvPr/>
        </p:nvSpPr>
        <p:spPr>
          <a:xfrm>
            <a:off x="502920" y="6473952"/>
            <a:ext cx="7315200" cy="274320"/>
          </a:xfrm>
          <a:prstGeom prst="rect">
            <a:avLst/>
          </a:prstGeom>
          <a:noFill/>
          <a:ln/>
        </p:spPr>
        <p:txBody>
          <a:bodyPr wrap="square" lIns="0" tIns="0" rIns="0" bIns="0" rtlCol="0" anchor="ctr"/>
          <a:lstStyle/>
          <a:p>
            <a:pPr algn="l" indent="0" marL="0">
              <a:buNone/>
            </a:pPr>
            <a:r>
              <a:rPr lang="en-US" sz="1000" dirty="0">
                <a:solidFill>
                  <a:srgbClr val="5B6B85"/>
                </a:solidFill>
                <a:latin typeface="Leelawadee UI" pitchFamily="34" charset="0"/>
                <a:ea typeface="Leelawadee UI" pitchFamily="34" charset="-122"/>
                <a:cs typeface="Leelawadee UI" pitchFamily="34" charset="-120"/>
              </a:rPr>
              <a:t>GraphMind — Tech Stack &amp; Concept</a:t>
            </a:r>
            <a:endParaRPr lang="en-US" sz="1000" dirty="0"/>
          </a:p>
        </p:txBody>
      </p:sp>
      <p:sp>
        <p:nvSpPr>
          <p:cNvPr id="31" name="Text 23"/>
          <p:cNvSpPr txBox="1"/>
          <p:nvPr/>
        </p:nvSpPr>
        <p:spPr>
          <a:xfrm>
            <a:off x="11140135" y="6473952"/>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Leelawadee UI" pitchFamily="34" charset="0"/>
                <a:ea typeface="Leelawadee UI" pitchFamily="34" charset="-122"/>
                <a:cs typeface="Leelawadee U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algn="l" indent="0" marL="0">
              <a:buNone/>
            </a:pPr>
            <a:r>
              <a:rPr lang="en-US" sz="1250" b="1" spc="200" kern="0" dirty="0">
                <a:solidFill>
                  <a:srgbClr val="F5A524"/>
                </a:solidFill>
                <a:latin typeface="Leelawadee UI" pitchFamily="34" charset="0"/>
                <a:ea typeface="Leelawadee UI" pitchFamily="34" charset="-122"/>
                <a:cs typeface="Leelawadee UI" pitchFamily="34" charset="-120"/>
              </a:rPr>
              <a:t>TECH STACK OVERVIEW</a:t>
            </a:r>
            <a:endParaRPr lang="en-US" sz="1250" dirty="0"/>
          </a:p>
        </p:txBody>
      </p:sp>
      <p:sp>
        <p:nvSpPr>
          <p:cNvPr id="3" name="Text 1"/>
          <p:cNvSpPr txBox="1"/>
          <p:nvPr/>
        </p:nvSpPr>
        <p:spPr>
          <a:xfrm>
            <a:off x="502920" y="457200"/>
            <a:ext cx="11185855" cy="685800"/>
          </a:xfrm>
          <a:prstGeom prst="rect">
            <a:avLst/>
          </a:prstGeom>
          <a:noFill/>
          <a:ln/>
        </p:spPr>
        <p:txBody>
          <a:bodyPr wrap="square" lIns="0" tIns="0" rIns="0" bIns="0" rtlCol="0" anchor="t"/>
          <a:lstStyle/>
          <a:p>
            <a:pPr algn="l" indent="0" marL="0">
              <a:buNone/>
            </a:pPr>
            <a:r>
              <a:rPr lang="en-US" sz="3000" b="1" dirty="0">
                <a:solidFill>
                  <a:srgbClr val="0F1B33"/>
                </a:solidFill>
                <a:latin typeface="Leelawadee UI" pitchFamily="34" charset="0"/>
                <a:ea typeface="Leelawadee UI" pitchFamily="34" charset="-122"/>
                <a:cs typeface="Leelawadee UI" pitchFamily="34" charset="-120"/>
              </a:rPr>
              <a:t>Tech Stack ที่ใช้ทั้งหมด</a:t>
            </a:r>
            <a:endParaRPr lang="en-US" sz="3000" dirty="0"/>
          </a:p>
        </p:txBody>
      </p:sp>
      <p:sp>
        <p:nvSpPr>
          <p:cNvPr id="4" name="Text 2"/>
          <p:cNvSpPr txBox="1"/>
          <p:nvPr/>
        </p:nvSpPr>
        <p:spPr>
          <a:xfrm>
            <a:off x="502920" y="1517904"/>
            <a:ext cx="3657600" cy="274320"/>
          </a:xfrm>
          <a:prstGeom prst="rect">
            <a:avLst/>
          </a:prstGeom>
          <a:noFill/>
          <a:ln/>
        </p:spPr>
        <p:txBody>
          <a:bodyPr wrap="square" lIns="0" tIns="0" rIns="0" bIns="0" rtlCol="0" anchor="ctr"/>
          <a:lstStyle/>
          <a:p>
            <a:pPr indent="0" marL="0">
              <a:buNone/>
            </a:pPr>
            <a:r>
              <a:rPr lang="en-US" sz="1300" b="1" dirty="0">
                <a:solidFill>
                  <a:srgbClr val="35507A"/>
                </a:solidFill>
                <a:latin typeface="Leelawadee UI" pitchFamily="34" charset="0"/>
                <a:ea typeface="Leelawadee UI" pitchFamily="34" charset="-122"/>
                <a:cs typeface="Leelawadee UI" pitchFamily="34" charset="-120"/>
              </a:rPr>
              <a:t>KNOWLEDGE &amp; DATA LAYER</a:t>
            </a:r>
            <a:endParaRPr lang="en-US" sz="1300" dirty="0"/>
          </a:p>
        </p:txBody>
      </p:sp>
      <p:sp>
        <p:nvSpPr>
          <p:cNvPr id="5" name="Shape 3"/>
          <p:cNvSpPr/>
          <p:nvPr/>
        </p:nvSpPr>
        <p:spPr>
          <a:xfrm>
            <a:off x="502920" y="1883664"/>
            <a:ext cx="2139696" cy="1481328"/>
          </a:xfrm>
          <a:prstGeom prst="roundRect">
            <a:avLst>
              <a:gd name="adj" fmla="val 6173"/>
            </a:avLst>
          </a:prstGeom>
          <a:solidFill>
            <a:srgbClr val="F4F6FA"/>
          </a:solidFill>
          <a:ln/>
        </p:spPr>
      </p:sp>
      <p:pic>
        <p:nvPicPr>
          <p:cNvPr id="6" name="Image 0" descr="/tmp/claude-0/-home-claude/031105a5-f49f-54fe-8ccb-acf4a5fade53/scratchpad/deck/assets/logo_protege.png">    </p:cNvPr>
          <p:cNvPicPr>
            <a:picLocks noChangeAspect="1"/>
          </p:cNvPicPr>
          <p:nvPr/>
        </p:nvPicPr>
        <p:blipFill>
          <a:blip r:embed="rId1"/>
          <a:stretch>
            <a:fillRect/>
          </a:stretch>
        </p:blipFill>
        <p:spPr>
          <a:xfrm>
            <a:off x="1188720" y="2048256"/>
            <a:ext cx="768096" cy="768096"/>
          </a:xfrm>
          <a:prstGeom prst="rect">
            <a:avLst/>
          </a:prstGeom>
          <a:effectLst>
            <a:outerShdw sx="100000" sy="100000" kx="0" ky="0" algn="bl" rotWithShape="0" blurRad="76200" dist="25400" dir="5400000">
              <a:srgbClr val="1B2A4A">
                <a:alpha val="28000"/>
              </a:srgbClr>
            </a:outerShdw>
          </a:effectLst>
        </p:spPr>
      </p:pic>
      <p:sp>
        <p:nvSpPr>
          <p:cNvPr id="7" name="Text 4"/>
          <p:cNvSpPr txBox="1"/>
          <p:nvPr/>
        </p:nvSpPr>
        <p:spPr>
          <a:xfrm>
            <a:off x="576072" y="287121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Protégé</a:t>
            </a:r>
            <a:endParaRPr lang="en-US" sz="1200" dirty="0"/>
          </a:p>
        </p:txBody>
      </p:sp>
      <p:sp>
        <p:nvSpPr>
          <p:cNvPr id="8" name="Text 5"/>
          <p:cNvSpPr txBox="1"/>
          <p:nvPr/>
        </p:nvSpPr>
        <p:spPr>
          <a:xfrm>
            <a:off x="576072" y="309981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ออกแบบ Ontology</a:t>
            </a:r>
            <a:endParaRPr lang="en-US" sz="900" dirty="0"/>
          </a:p>
        </p:txBody>
      </p:sp>
      <p:sp>
        <p:nvSpPr>
          <p:cNvPr id="9" name="Shape 6"/>
          <p:cNvSpPr/>
          <p:nvPr/>
        </p:nvSpPr>
        <p:spPr>
          <a:xfrm>
            <a:off x="2761488" y="1883664"/>
            <a:ext cx="2139696" cy="1481328"/>
          </a:xfrm>
          <a:prstGeom prst="roundRect">
            <a:avLst>
              <a:gd name="adj" fmla="val 6173"/>
            </a:avLst>
          </a:prstGeom>
          <a:solidFill>
            <a:srgbClr val="F4F6FA"/>
          </a:solidFill>
          <a:ln/>
        </p:spPr>
      </p:sp>
      <p:pic>
        <p:nvPicPr>
          <p:cNvPr id="10" name="Image 1" descr="/tmp/claude-0/-home-claude/031105a5-f49f-54fe-8ccb-acf4a5fade53/scratchpad/deck/assets/logo_semanticweb.png">    </p:cNvPr>
          <p:cNvPicPr>
            <a:picLocks noChangeAspect="1"/>
          </p:cNvPicPr>
          <p:nvPr/>
        </p:nvPicPr>
        <p:blipFill>
          <a:blip r:embed="rId2"/>
          <a:stretch>
            <a:fillRect/>
          </a:stretch>
        </p:blipFill>
        <p:spPr>
          <a:xfrm>
            <a:off x="3447288" y="2048256"/>
            <a:ext cx="768096" cy="768096"/>
          </a:xfrm>
          <a:prstGeom prst="rect">
            <a:avLst/>
          </a:prstGeom>
          <a:effectLst>
            <a:outerShdw sx="100000" sy="100000" kx="0" ky="0" algn="bl" rotWithShape="0" blurRad="76200" dist="25400" dir="5400000">
              <a:srgbClr val="1B2A4A">
                <a:alpha val="28000"/>
              </a:srgbClr>
            </a:outerShdw>
          </a:effectLst>
        </p:spPr>
      </p:pic>
      <p:sp>
        <p:nvSpPr>
          <p:cNvPr id="11" name="Text 7"/>
          <p:cNvSpPr txBox="1"/>
          <p:nvPr/>
        </p:nvSpPr>
        <p:spPr>
          <a:xfrm>
            <a:off x="2834640" y="287121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OWL / RDF</a:t>
            </a:r>
            <a:endParaRPr lang="en-US" sz="1200" dirty="0"/>
          </a:p>
        </p:txBody>
      </p:sp>
      <p:sp>
        <p:nvSpPr>
          <p:cNvPr id="12" name="Text 8"/>
          <p:cNvSpPr txBox="1"/>
          <p:nvPr/>
        </p:nvSpPr>
        <p:spPr>
          <a:xfrm>
            <a:off x="2834640" y="309981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Semantic Schema</a:t>
            </a:r>
            <a:endParaRPr lang="en-US" sz="900" dirty="0"/>
          </a:p>
        </p:txBody>
      </p:sp>
      <p:sp>
        <p:nvSpPr>
          <p:cNvPr id="13" name="Shape 9"/>
          <p:cNvSpPr/>
          <p:nvPr/>
        </p:nvSpPr>
        <p:spPr>
          <a:xfrm>
            <a:off x="5020056" y="1883664"/>
            <a:ext cx="2139696" cy="1481328"/>
          </a:xfrm>
          <a:prstGeom prst="roundRect">
            <a:avLst>
              <a:gd name="adj" fmla="val 6173"/>
            </a:avLst>
          </a:prstGeom>
          <a:solidFill>
            <a:srgbClr val="F4F6FA"/>
          </a:solidFill>
          <a:ln/>
        </p:spPr>
      </p:sp>
      <p:pic>
        <p:nvPicPr>
          <p:cNvPr id="14" name="Image 2" descr="/tmp/claude-0/-home-claude/031105a5-f49f-54fe-8ccb-acf4a5fade53/scratchpad/deck/assets/logo_apache.png">    </p:cNvPr>
          <p:cNvPicPr>
            <a:picLocks noChangeAspect="1"/>
          </p:cNvPicPr>
          <p:nvPr/>
        </p:nvPicPr>
        <p:blipFill>
          <a:blip r:embed="rId3"/>
          <a:stretch>
            <a:fillRect/>
          </a:stretch>
        </p:blipFill>
        <p:spPr>
          <a:xfrm>
            <a:off x="5705856" y="2048256"/>
            <a:ext cx="768096" cy="768096"/>
          </a:xfrm>
          <a:prstGeom prst="rect">
            <a:avLst/>
          </a:prstGeom>
          <a:effectLst>
            <a:outerShdw sx="100000" sy="100000" kx="0" ky="0" algn="bl" rotWithShape="0" blurRad="76200" dist="25400" dir="5400000">
              <a:srgbClr val="1B2A4A">
                <a:alpha val="28000"/>
              </a:srgbClr>
            </a:outerShdw>
          </a:effectLst>
        </p:spPr>
      </p:pic>
      <p:sp>
        <p:nvSpPr>
          <p:cNvPr id="15" name="Text 10"/>
          <p:cNvSpPr txBox="1"/>
          <p:nvPr/>
        </p:nvSpPr>
        <p:spPr>
          <a:xfrm>
            <a:off x="5093208" y="287121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Jena Fuseki</a:t>
            </a:r>
            <a:endParaRPr lang="en-US" sz="1200" dirty="0"/>
          </a:p>
        </p:txBody>
      </p:sp>
      <p:sp>
        <p:nvSpPr>
          <p:cNvPr id="16" name="Text 11"/>
          <p:cNvSpPr txBox="1"/>
          <p:nvPr/>
        </p:nvSpPr>
        <p:spPr>
          <a:xfrm>
            <a:off x="5093208" y="309981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Triple Store + SPARQL</a:t>
            </a:r>
            <a:endParaRPr lang="en-US" sz="900" dirty="0"/>
          </a:p>
        </p:txBody>
      </p:sp>
      <p:sp>
        <p:nvSpPr>
          <p:cNvPr id="17" name="Shape 12"/>
          <p:cNvSpPr/>
          <p:nvPr/>
        </p:nvSpPr>
        <p:spPr>
          <a:xfrm>
            <a:off x="7278624" y="1883664"/>
            <a:ext cx="2139696" cy="1481328"/>
          </a:xfrm>
          <a:prstGeom prst="roundRect">
            <a:avLst>
              <a:gd name="adj" fmla="val 6173"/>
            </a:avLst>
          </a:prstGeom>
          <a:solidFill>
            <a:srgbClr val="F4F6FA"/>
          </a:solidFill>
          <a:ln/>
        </p:spPr>
      </p:sp>
      <p:pic>
        <p:nvPicPr>
          <p:cNvPr id="18" name="Image 3" descr="/tmp/claude-0/-home-claude/031105a5-f49f-54fe-8ccb-acf4a5fade53/scratchpad/deck/assets/logo_docker.png">    </p:cNvPr>
          <p:cNvPicPr>
            <a:picLocks noChangeAspect="1"/>
          </p:cNvPicPr>
          <p:nvPr/>
        </p:nvPicPr>
        <p:blipFill>
          <a:blip r:embed="rId4"/>
          <a:stretch>
            <a:fillRect/>
          </a:stretch>
        </p:blipFill>
        <p:spPr>
          <a:xfrm>
            <a:off x="7964424" y="2048256"/>
            <a:ext cx="768096" cy="768096"/>
          </a:xfrm>
          <a:prstGeom prst="rect">
            <a:avLst/>
          </a:prstGeom>
          <a:effectLst>
            <a:outerShdw sx="100000" sy="100000" kx="0" ky="0" algn="bl" rotWithShape="0" blurRad="76200" dist="25400" dir="5400000">
              <a:srgbClr val="1B2A4A">
                <a:alpha val="28000"/>
              </a:srgbClr>
            </a:outerShdw>
          </a:effectLst>
        </p:spPr>
      </p:pic>
      <p:sp>
        <p:nvSpPr>
          <p:cNvPr id="19" name="Text 13"/>
          <p:cNvSpPr txBox="1"/>
          <p:nvPr/>
        </p:nvSpPr>
        <p:spPr>
          <a:xfrm>
            <a:off x="7351776" y="287121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Docker</a:t>
            </a:r>
            <a:endParaRPr lang="en-US" sz="1200" dirty="0"/>
          </a:p>
        </p:txBody>
      </p:sp>
      <p:sp>
        <p:nvSpPr>
          <p:cNvPr id="20" name="Text 14"/>
          <p:cNvSpPr txBox="1"/>
          <p:nvPr/>
        </p:nvSpPr>
        <p:spPr>
          <a:xfrm>
            <a:off x="7351776" y="309981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รัน Fuseki</a:t>
            </a:r>
            <a:endParaRPr lang="en-US" sz="900" dirty="0"/>
          </a:p>
        </p:txBody>
      </p:sp>
      <p:sp>
        <p:nvSpPr>
          <p:cNvPr id="21" name="Shape 15"/>
          <p:cNvSpPr/>
          <p:nvPr/>
        </p:nvSpPr>
        <p:spPr>
          <a:xfrm>
            <a:off x="9537192" y="1883664"/>
            <a:ext cx="2139696" cy="1481328"/>
          </a:xfrm>
          <a:prstGeom prst="roundRect">
            <a:avLst>
              <a:gd name="adj" fmla="val 6173"/>
            </a:avLst>
          </a:prstGeom>
          <a:solidFill>
            <a:srgbClr val="F4F6FA"/>
          </a:solidFill>
          <a:ln/>
        </p:spPr>
      </p:sp>
      <p:pic>
        <p:nvPicPr>
          <p:cNvPr id="22" name="Image 4" descr="/tmp/claude-0/-home-claude/031105a5-f49f-54fe-8ccb-acf4a5fade53/scratchpad/deck/assets/logo_sqlite.png">    </p:cNvPr>
          <p:cNvPicPr>
            <a:picLocks noChangeAspect="1"/>
          </p:cNvPicPr>
          <p:nvPr/>
        </p:nvPicPr>
        <p:blipFill>
          <a:blip r:embed="rId5"/>
          <a:stretch>
            <a:fillRect/>
          </a:stretch>
        </p:blipFill>
        <p:spPr>
          <a:xfrm>
            <a:off x="10222992" y="2048256"/>
            <a:ext cx="768096" cy="768096"/>
          </a:xfrm>
          <a:prstGeom prst="rect">
            <a:avLst/>
          </a:prstGeom>
          <a:effectLst>
            <a:outerShdw sx="100000" sy="100000" kx="0" ky="0" algn="bl" rotWithShape="0" blurRad="76200" dist="25400" dir="5400000">
              <a:srgbClr val="1B2A4A">
                <a:alpha val="28000"/>
              </a:srgbClr>
            </a:outerShdw>
          </a:effectLst>
        </p:spPr>
      </p:pic>
      <p:sp>
        <p:nvSpPr>
          <p:cNvPr id="23" name="Text 16"/>
          <p:cNvSpPr txBox="1"/>
          <p:nvPr/>
        </p:nvSpPr>
        <p:spPr>
          <a:xfrm>
            <a:off x="9610344" y="287121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SQLite</a:t>
            </a:r>
            <a:endParaRPr lang="en-US" sz="1200" dirty="0"/>
          </a:p>
        </p:txBody>
      </p:sp>
      <p:sp>
        <p:nvSpPr>
          <p:cNvPr id="24" name="Text 17"/>
          <p:cNvSpPr txBox="1"/>
          <p:nvPr/>
        </p:nvSpPr>
        <p:spPr>
          <a:xfrm>
            <a:off x="9610344" y="309981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เก็บประวัติแชท</a:t>
            </a:r>
            <a:endParaRPr lang="en-US" sz="900" dirty="0"/>
          </a:p>
        </p:txBody>
      </p:sp>
      <p:sp>
        <p:nvSpPr>
          <p:cNvPr id="25" name="Text 18"/>
          <p:cNvSpPr txBox="1"/>
          <p:nvPr/>
        </p:nvSpPr>
        <p:spPr>
          <a:xfrm>
            <a:off x="502920" y="3621024"/>
            <a:ext cx="3657600" cy="274320"/>
          </a:xfrm>
          <a:prstGeom prst="rect">
            <a:avLst/>
          </a:prstGeom>
          <a:noFill/>
          <a:ln/>
        </p:spPr>
        <p:txBody>
          <a:bodyPr wrap="square" lIns="0" tIns="0" rIns="0" bIns="0" rtlCol="0" anchor="ctr"/>
          <a:lstStyle/>
          <a:p>
            <a:pPr indent="0" marL="0">
              <a:buNone/>
            </a:pPr>
            <a:r>
              <a:rPr lang="en-US" sz="1300" b="1" dirty="0">
                <a:solidFill>
                  <a:srgbClr val="35507A"/>
                </a:solidFill>
                <a:latin typeface="Leelawadee UI" pitchFamily="34" charset="0"/>
                <a:ea typeface="Leelawadee UI" pitchFamily="34" charset="-122"/>
                <a:cs typeface="Leelawadee UI" pitchFamily="34" charset="-120"/>
              </a:rPr>
              <a:t>APPLICATION &amp; AI LAYER</a:t>
            </a:r>
            <a:endParaRPr lang="en-US" sz="1300" dirty="0"/>
          </a:p>
        </p:txBody>
      </p:sp>
      <p:sp>
        <p:nvSpPr>
          <p:cNvPr id="26" name="Shape 19"/>
          <p:cNvSpPr/>
          <p:nvPr/>
        </p:nvSpPr>
        <p:spPr>
          <a:xfrm>
            <a:off x="502920" y="3986784"/>
            <a:ext cx="2139696" cy="1481328"/>
          </a:xfrm>
          <a:prstGeom prst="roundRect">
            <a:avLst>
              <a:gd name="adj" fmla="val 6173"/>
            </a:avLst>
          </a:prstGeom>
          <a:solidFill>
            <a:srgbClr val="F4F6FA"/>
          </a:solidFill>
          <a:ln/>
        </p:spPr>
      </p:sp>
      <p:pic>
        <p:nvPicPr>
          <p:cNvPr id="27" name="Image 5" descr="/tmp/claude-0/-home-claude/031105a5-f49f-54fe-8ccb-acf4a5fade53/scratchpad/deck/assets/logo_ollama.png">    </p:cNvPr>
          <p:cNvPicPr>
            <a:picLocks noChangeAspect="1"/>
          </p:cNvPicPr>
          <p:nvPr/>
        </p:nvPicPr>
        <p:blipFill>
          <a:blip r:embed="rId6"/>
          <a:stretch>
            <a:fillRect/>
          </a:stretch>
        </p:blipFill>
        <p:spPr>
          <a:xfrm>
            <a:off x="1188720" y="4151376"/>
            <a:ext cx="768096" cy="768096"/>
          </a:xfrm>
          <a:prstGeom prst="rect">
            <a:avLst/>
          </a:prstGeom>
          <a:effectLst>
            <a:outerShdw sx="100000" sy="100000" kx="0" ky="0" algn="bl" rotWithShape="0" blurRad="76200" dist="25400" dir="5400000">
              <a:srgbClr val="1B2A4A">
                <a:alpha val="28000"/>
              </a:srgbClr>
            </a:outerShdw>
          </a:effectLst>
        </p:spPr>
      </p:pic>
      <p:sp>
        <p:nvSpPr>
          <p:cNvPr id="28" name="Text 20"/>
          <p:cNvSpPr txBox="1"/>
          <p:nvPr/>
        </p:nvSpPr>
        <p:spPr>
          <a:xfrm>
            <a:off x="576072" y="497433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Ollama</a:t>
            </a:r>
            <a:endParaRPr lang="en-US" sz="1200" dirty="0"/>
          </a:p>
        </p:txBody>
      </p:sp>
      <p:sp>
        <p:nvSpPr>
          <p:cNvPr id="29" name="Text 21"/>
          <p:cNvSpPr txBox="1"/>
          <p:nvPr/>
        </p:nvSpPr>
        <p:spPr>
          <a:xfrm>
            <a:off x="576072" y="520293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Local LLM Runtime</a:t>
            </a:r>
            <a:endParaRPr lang="en-US" sz="900" dirty="0"/>
          </a:p>
        </p:txBody>
      </p:sp>
      <p:sp>
        <p:nvSpPr>
          <p:cNvPr id="30" name="Shape 22"/>
          <p:cNvSpPr/>
          <p:nvPr/>
        </p:nvSpPr>
        <p:spPr>
          <a:xfrm>
            <a:off x="2761488" y="3986784"/>
            <a:ext cx="2139696" cy="1481328"/>
          </a:xfrm>
          <a:prstGeom prst="roundRect">
            <a:avLst>
              <a:gd name="adj" fmla="val 6173"/>
            </a:avLst>
          </a:prstGeom>
          <a:solidFill>
            <a:srgbClr val="F4F6FA"/>
          </a:solidFill>
          <a:ln/>
        </p:spPr>
      </p:sp>
      <p:pic>
        <p:nvPicPr>
          <p:cNvPr id="31" name="Image 6" descr="/tmp/claude-0/-home-claude/031105a5-f49f-54fe-8ccb-acf4a5fade53/scratchpad/deck/assets/logo_python.png">    </p:cNvPr>
          <p:cNvPicPr>
            <a:picLocks noChangeAspect="1"/>
          </p:cNvPicPr>
          <p:nvPr/>
        </p:nvPicPr>
        <p:blipFill>
          <a:blip r:embed="rId7"/>
          <a:stretch>
            <a:fillRect/>
          </a:stretch>
        </p:blipFill>
        <p:spPr>
          <a:xfrm>
            <a:off x="3447288" y="4151376"/>
            <a:ext cx="768096" cy="768096"/>
          </a:xfrm>
          <a:prstGeom prst="rect">
            <a:avLst/>
          </a:prstGeom>
          <a:effectLst>
            <a:outerShdw sx="100000" sy="100000" kx="0" ky="0" algn="bl" rotWithShape="0" blurRad="76200" dist="25400" dir="5400000">
              <a:srgbClr val="1B2A4A">
                <a:alpha val="28000"/>
              </a:srgbClr>
            </a:outerShdw>
          </a:effectLst>
        </p:spPr>
      </p:pic>
      <p:sp>
        <p:nvSpPr>
          <p:cNvPr id="32" name="Text 23"/>
          <p:cNvSpPr txBox="1"/>
          <p:nvPr/>
        </p:nvSpPr>
        <p:spPr>
          <a:xfrm>
            <a:off x="2834640" y="497433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Python</a:t>
            </a:r>
            <a:endParaRPr lang="en-US" sz="1200" dirty="0"/>
          </a:p>
        </p:txBody>
      </p:sp>
      <p:sp>
        <p:nvSpPr>
          <p:cNvPr id="33" name="Text 24"/>
          <p:cNvSpPr txBox="1"/>
          <p:nvPr/>
        </p:nvSpPr>
        <p:spPr>
          <a:xfrm>
            <a:off x="2834640" y="520293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Backend Language</a:t>
            </a:r>
            <a:endParaRPr lang="en-US" sz="900" dirty="0"/>
          </a:p>
        </p:txBody>
      </p:sp>
      <p:sp>
        <p:nvSpPr>
          <p:cNvPr id="34" name="Shape 25"/>
          <p:cNvSpPr/>
          <p:nvPr/>
        </p:nvSpPr>
        <p:spPr>
          <a:xfrm>
            <a:off x="5020056" y="3986784"/>
            <a:ext cx="2139696" cy="1481328"/>
          </a:xfrm>
          <a:prstGeom prst="roundRect">
            <a:avLst>
              <a:gd name="adj" fmla="val 6173"/>
            </a:avLst>
          </a:prstGeom>
          <a:solidFill>
            <a:srgbClr val="F4F6FA"/>
          </a:solidFill>
          <a:ln/>
        </p:spPr>
      </p:sp>
      <p:pic>
        <p:nvPicPr>
          <p:cNvPr id="35" name="Image 7" descr="/tmp/claude-0/-home-claude/031105a5-f49f-54fe-8ccb-acf4a5fade53/scratchpad/deck/assets/logo_fastapi.png">    </p:cNvPr>
          <p:cNvPicPr>
            <a:picLocks noChangeAspect="1"/>
          </p:cNvPicPr>
          <p:nvPr/>
        </p:nvPicPr>
        <p:blipFill>
          <a:blip r:embed="rId8"/>
          <a:stretch>
            <a:fillRect/>
          </a:stretch>
        </p:blipFill>
        <p:spPr>
          <a:xfrm>
            <a:off x="5705856" y="4151376"/>
            <a:ext cx="768096" cy="768096"/>
          </a:xfrm>
          <a:prstGeom prst="rect">
            <a:avLst/>
          </a:prstGeom>
          <a:effectLst>
            <a:outerShdw sx="100000" sy="100000" kx="0" ky="0" algn="bl" rotWithShape="0" blurRad="76200" dist="25400" dir="5400000">
              <a:srgbClr val="1B2A4A">
                <a:alpha val="28000"/>
              </a:srgbClr>
            </a:outerShdw>
          </a:effectLst>
        </p:spPr>
      </p:pic>
      <p:sp>
        <p:nvSpPr>
          <p:cNvPr id="36" name="Text 26"/>
          <p:cNvSpPr txBox="1"/>
          <p:nvPr/>
        </p:nvSpPr>
        <p:spPr>
          <a:xfrm>
            <a:off x="5093208" y="497433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FastAPI</a:t>
            </a:r>
            <a:endParaRPr lang="en-US" sz="1200" dirty="0"/>
          </a:p>
        </p:txBody>
      </p:sp>
      <p:sp>
        <p:nvSpPr>
          <p:cNvPr id="37" name="Text 27"/>
          <p:cNvSpPr txBox="1"/>
          <p:nvPr/>
        </p:nvSpPr>
        <p:spPr>
          <a:xfrm>
            <a:off x="5093208" y="520293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REST API</a:t>
            </a:r>
            <a:endParaRPr lang="en-US" sz="900" dirty="0"/>
          </a:p>
        </p:txBody>
      </p:sp>
      <p:sp>
        <p:nvSpPr>
          <p:cNvPr id="38" name="Shape 28"/>
          <p:cNvSpPr/>
          <p:nvPr/>
        </p:nvSpPr>
        <p:spPr>
          <a:xfrm>
            <a:off x="7278624" y="3986784"/>
            <a:ext cx="2139696" cy="1481328"/>
          </a:xfrm>
          <a:prstGeom prst="roundRect">
            <a:avLst>
              <a:gd name="adj" fmla="val 6173"/>
            </a:avLst>
          </a:prstGeom>
          <a:solidFill>
            <a:srgbClr val="F4F6FA"/>
          </a:solidFill>
          <a:ln/>
        </p:spPr>
      </p:sp>
      <p:pic>
        <p:nvPicPr>
          <p:cNvPr id="39" name="Image 8" descr="/tmp/claude-0/-home-claude/031105a5-f49f-54fe-8ccb-acf4a5fade53/scratchpad/deck/assets/logo_nextjs.png">    </p:cNvPr>
          <p:cNvPicPr>
            <a:picLocks noChangeAspect="1"/>
          </p:cNvPicPr>
          <p:nvPr/>
        </p:nvPicPr>
        <p:blipFill>
          <a:blip r:embed="rId9"/>
          <a:stretch>
            <a:fillRect/>
          </a:stretch>
        </p:blipFill>
        <p:spPr>
          <a:xfrm>
            <a:off x="7964424" y="4151376"/>
            <a:ext cx="768096" cy="768096"/>
          </a:xfrm>
          <a:prstGeom prst="rect">
            <a:avLst/>
          </a:prstGeom>
          <a:effectLst>
            <a:outerShdw sx="100000" sy="100000" kx="0" ky="0" algn="bl" rotWithShape="0" blurRad="76200" dist="25400" dir="5400000">
              <a:srgbClr val="1B2A4A">
                <a:alpha val="28000"/>
              </a:srgbClr>
            </a:outerShdw>
          </a:effectLst>
        </p:spPr>
      </p:pic>
      <p:sp>
        <p:nvSpPr>
          <p:cNvPr id="40" name="Text 29"/>
          <p:cNvSpPr txBox="1"/>
          <p:nvPr/>
        </p:nvSpPr>
        <p:spPr>
          <a:xfrm>
            <a:off x="7351776" y="497433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Next.js</a:t>
            </a:r>
            <a:endParaRPr lang="en-US" sz="1200" dirty="0"/>
          </a:p>
        </p:txBody>
      </p:sp>
      <p:sp>
        <p:nvSpPr>
          <p:cNvPr id="41" name="Text 30"/>
          <p:cNvSpPr txBox="1"/>
          <p:nvPr/>
        </p:nvSpPr>
        <p:spPr>
          <a:xfrm>
            <a:off x="7351776" y="520293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Web Frontend</a:t>
            </a:r>
            <a:endParaRPr lang="en-US" sz="900" dirty="0"/>
          </a:p>
        </p:txBody>
      </p:sp>
      <p:sp>
        <p:nvSpPr>
          <p:cNvPr id="42" name="Shape 31"/>
          <p:cNvSpPr/>
          <p:nvPr/>
        </p:nvSpPr>
        <p:spPr>
          <a:xfrm>
            <a:off x="9537192" y="3986784"/>
            <a:ext cx="2139696" cy="1481328"/>
          </a:xfrm>
          <a:prstGeom prst="roundRect">
            <a:avLst>
              <a:gd name="adj" fmla="val 6173"/>
            </a:avLst>
          </a:prstGeom>
          <a:solidFill>
            <a:srgbClr val="F4F6FA"/>
          </a:solidFill>
          <a:ln/>
        </p:spPr>
      </p:sp>
      <p:pic>
        <p:nvPicPr>
          <p:cNvPr id="43" name="Image 9" descr="/tmp/claude-0/-home-claude/031105a5-f49f-54fe-8ccb-acf4a5fade53/scratchpad/deck/assets/logo_react.png">    </p:cNvPr>
          <p:cNvPicPr>
            <a:picLocks noChangeAspect="1"/>
          </p:cNvPicPr>
          <p:nvPr/>
        </p:nvPicPr>
        <p:blipFill>
          <a:blip r:embed="rId10"/>
          <a:stretch>
            <a:fillRect/>
          </a:stretch>
        </p:blipFill>
        <p:spPr>
          <a:xfrm>
            <a:off x="10222992" y="4151376"/>
            <a:ext cx="768096" cy="768096"/>
          </a:xfrm>
          <a:prstGeom prst="rect">
            <a:avLst/>
          </a:prstGeom>
          <a:effectLst>
            <a:outerShdw sx="100000" sy="100000" kx="0" ky="0" algn="bl" rotWithShape="0" blurRad="76200" dist="25400" dir="5400000">
              <a:srgbClr val="1B2A4A">
                <a:alpha val="28000"/>
              </a:srgbClr>
            </a:outerShdw>
          </a:effectLst>
        </p:spPr>
      </p:pic>
      <p:sp>
        <p:nvSpPr>
          <p:cNvPr id="44" name="Text 32"/>
          <p:cNvSpPr txBox="1"/>
          <p:nvPr/>
        </p:nvSpPr>
        <p:spPr>
          <a:xfrm>
            <a:off x="9610344" y="4974336"/>
            <a:ext cx="1993392" cy="256032"/>
          </a:xfrm>
          <a:prstGeom prst="rect">
            <a:avLst/>
          </a:prstGeom>
          <a:noFill/>
          <a:ln/>
        </p:spPr>
        <p:txBody>
          <a:bodyPr wrap="square" lIns="0" tIns="0" rIns="0" bIns="0" rtlCol="0" anchor="ctr"/>
          <a:lstStyle/>
          <a:p>
            <a:pPr algn="ctr" indent="0" marL="0">
              <a:buNone/>
            </a:pPr>
            <a:r>
              <a:rPr lang="en-US" sz="1200" b="1" dirty="0">
                <a:solidFill>
                  <a:srgbClr val="0F1B33"/>
                </a:solidFill>
                <a:latin typeface="Leelawadee UI" pitchFamily="34" charset="0"/>
                <a:ea typeface="Leelawadee UI" pitchFamily="34" charset="-122"/>
                <a:cs typeface="Leelawadee UI" pitchFamily="34" charset="-120"/>
              </a:rPr>
              <a:t>React</a:t>
            </a:r>
            <a:endParaRPr lang="en-US" sz="1200" dirty="0"/>
          </a:p>
        </p:txBody>
      </p:sp>
      <p:sp>
        <p:nvSpPr>
          <p:cNvPr id="45" name="Text 33"/>
          <p:cNvSpPr txBox="1"/>
          <p:nvPr/>
        </p:nvSpPr>
        <p:spPr>
          <a:xfrm>
            <a:off x="9610344" y="5202936"/>
            <a:ext cx="1993392" cy="219456"/>
          </a:xfrm>
          <a:prstGeom prst="rect">
            <a:avLst/>
          </a:prstGeom>
          <a:noFill/>
          <a:ln/>
        </p:spPr>
        <p:txBody>
          <a:bodyPr wrap="square" lIns="0" tIns="0" rIns="0" bIns="0" rtlCol="0" anchor="ctr"/>
          <a:lstStyle/>
          <a:p>
            <a:pPr algn="ctr" indent="0" marL="0">
              <a:buNone/>
            </a:pPr>
            <a:r>
              <a:rPr lang="en-US" sz="900" dirty="0">
                <a:solidFill>
                  <a:srgbClr val="5B6B85"/>
                </a:solidFill>
                <a:latin typeface="Leelawadee UI" pitchFamily="34" charset="0"/>
                <a:ea typeface="Leelawadee UI" pitchFamily="34" charset="-122"/>
                <a:cs typeface="Leelawadee UI" pitchFamily="34" charset="-120"/>
              </a:rPr>
              <a:t>UI Components</a:t>
            </a:r>
            <a:endParaRPr lang="en-US" sz="900" dirty="0"/>
          </a:p>
        </p:txBody>
      </p:sp>
      <p:sp>
        <p:nvSpPr>
          <p:cNvPr id="47" name="Text 34"/>
          <p:cNvSpPr txBox="1"/>
          <p:nvPr/>
        </p:nvSpPr>
        <p:spPr>
          <a:xfrm>
            <a:off x="502920" y="6473952"/>
            <a:ext cx="7315200" cy="274320"/>
          </a:xfrm>
          <a:prstGeom prst="rect">
            <a:avLst/>
          </a:prstGeom>
          <a:noFill/>
          <a:ln/>
        </p:spPr>
        <p:txBody>
          <a:bodyPr wrap="square" lIns="0" tIns="0" rIns="0" bIns="0" rtlCol="0" anchor="ctr"/>
          <a:lstStyle/>
          <a:p>
            <a:pPr algn="l" indent="0" marL="0">
              <a:buNone/>
            </a:pPr>
            <a:r>
              <a:rPr lang="en-US" sz="1000" dirty="0">
                <a:solidFill>
                  <a:srgbClr val="5B6B85"/>
                </a:solidFill>
                <a:latin typeface="Leelawadee UI" pitchFamily="34" charset="0"/>
                <a:ea typeface="Leelawadee UI" pitchFamily="34" charset="-122"/>
                <a:cs typeface="Leelawadee UI" pitchFamily="34" charset="-120"/>
              </a:rPr>
              <a:t>GraphMind — Tech Stack &amp; Concept</a:t>
            </a:r>
            <a:endParaRPr lang="en-US" sz="1000" dirty="0"/>
          </a:p>
        </p:txBody>
      </p:sp>
      <p:sp>
        <p:nvSpPr>
          <p:cNvPr id="48" name="Text 35"/>
          <p:cNvSpPr txBox="1"/>
          <p:nvPr/>
        </p:nvSpPr>
        <p:spPr>
          <a:xfrm>
            <a:off x="11140135" y="6473952"/>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Leelawadee UI" pitchFamily="34" charset="0"/>
                <a:ea typeface="Leelawadee UI" pitchFamily="34" charset="-122"/>
                <a:cs typeface="Leelawadee U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algn="l" indent="0" marL="0">
              <a:buNone/>
            </a:pPr>
            <a:r>
              <a:rPr lang="en-US" sz="1250" b="1" spc="200" kern="0" dirty="0">
                <a:solidFill>
                  <a:srgbClr val="F5A524"/>
                </a:solidFill>
                <a:latin typeface="Leelawadee UI" pitchFamily="34" charset="0"/>
                <a:ea typeface="Leelawadee UI" pitchFamily="34" charset="-122"/>
                <a:cs typeface="Leelawadee UI" pitchFamily="34" charset="-120"/>
              </a:rPr>
              <a:t>TECH STACK · KNOWLEDGE LAYER</a:t>
            </a:r>
            <a:endParaRPr lang="en-US" sz="1250" dirty="0"/>
          </a:p>
        </p:txBody>
      </p:sp>
      <p:sp>
        <p:nvSpPr>
          <p:cNvPr id="3" name="Text 1"/>
          <p:cNvSpPr txBox="1"/>
          <p:nvPr/>
        </p:nvSpPr>
        <p:spPr>
          <a:xfrm>
            <a:off x="502920" y="457200"/>
            <a:ext cx="11185855" cy="685800"/>
          </a:xfrm>
          <a:prstGeom prst="rect">
            <a:avLst/>
          </a:prstGeom>
          <a:noFill/>
          <a:ln/>
        </p:spPr>
        <p:txBody>
          <a:bodyPr wrap="square" lIns="0" tIns="0" rIns="0" bIns="0" rtlCol="0" anchor="t"/>
          <a:lstStyle/>
          <a:p>
            <a:pPr algn="l" indent="0" marL="0">
              <a:buNone/>
            </a:pPr>
            <a:r>
              <a:rPr lang="en-US" sz="3000" b="1" dirty="0">
                <a:solidFill>
                  <a:srgbClr val="0F1B33"/>
                </a:solidFill>
                <a:latin typeface="Leelawadee UI" pitchFamily="34" charset="0"/>
                <a:ea typeface="Leelawadee UI" pitchFamily="34" charset="-122"/>
                <a:cs typeface="Leelawadee UI" pitchFamily="34" charset="-120"/>
              </a:rPr>
              <a:t>ออกแบบ Ontology และ Knowledge Graph</a:t>
            </a:r>
            <a:endParaRPr lang="en-US" sz="3000" dirty="0"/>
          </a:p>
        </p:txBody>
      </p:sp>
      <p:pic>
        <p:nvPicPr>
          <p:cNvPr id="4" name="Image 0" descr="/tmp/claude-0/-home-claude/031105a5-f49f-54fe-8ccb-acf4a5fade53/scratchpad/deck/assets/logo_protege.png">    </p:cNvPr>
          <p:cNvPicPr>
            <a:picLocks noChangeAspect="1"/>
          </p:cNvPicPr>
          <p:nvPr/>
        </p:nvPicPr>
        <p:blipFill>
          <a:blip r:embed="rId1"/>
          <a:stretch>
            <a:fillRect/>
          </a:stretch>
        </p:blipFill>
        <p:spPr>
          <a:xfrm>
            <a:off x="502920" y="1481328"/>
            <a:ext cx="512064" cy="512064"/>
          </a:xfrm>
          <a:prstGeom prst="rect">
            <a:avLst/>
          </a:prstGeom>
          <a:effectLst>
            <a:outerShdw sx="100000" sy="100000" kx="0" ky="0" algn="bl" rotWithShape="0" blurRad="76200" dist="25400" dir="5400000">
              <a:srgbClr val="1B2A4A">
                <a:alpha val="28000"/>
              </a:srgbClr>
            </a:outerShdw>
          </a:effectLst>
        </p:spPr>
      </p:pic>
      <p:sp>
        <p:nvSpPr>
          <p:cNvPr id="5" name="Text 2"/>
          <p:cNvSpPr txBox="1"/>
          <p:nvPr/>
        </p:nvSpPr>
        <p:spPr>
          <a:xfrm>
            <a:off x="1161288" y="1508760"/>
            <a:ext cx="4690872" cy="274320"/>
          </a:xfrm>
          <a:prstGeom prst="rect">
            <a:avLst/>
          </a:prstGeom>
          <a:noFill/>
          <a:ln/>
        </p:spPr>
        <p:txBody>
          <a:bodyPr wrap="square" lIns="0" tIns="0" rIns="0" bIns="0" rtlCol="0" anchor="ctr"/>
          <a:lstStyle/>
          <a:p>
            <a:pPr indent="0" marL="0">
              <a:buNone/>
            </a:pPr>
            <a:r>
              <a:rPr lang="en-US" sz="1350" b="1" dirty="0">
                <a:solidFill>
                  <a:srgbClr val="0F1B33"/>
                </a:solidFill>
                <a:latin typeface="Leelawadee UI" pitchFamily="34" charset="0"/>
                <a:ea typeface="Leelawadee UI" pitchFamily="34" charset="-122"/>
                <a:cs typeface="Leelawadee UI" pitchFamily="34" charset="-120"/>
              </a:rPr>
              <a:t>Protégé — ออกแบบ Ontology</a:t>
            </a:r>
            <a:endParaRPr lang="en-US" sz="1350" dirty="0"/>
          </a:p>
        </p:txBody>
      </p:sp>
      <p:sp>
        <p:nvSpPr>
          <p:cNvPr id="6" name="Text 3"/>
          <p:cNvSpPr txBox="1"/>
          <p:nvPr/>
        </p:nvSpPr>
        <p:spPr>
          <a:xfrm>
            <a:off x="1161288" y="1792224"/>
            <a:ext cx="4690872" cy="237744"/>
          </a:xfrm>
          <a:prstGeom prst="rect">
            <a:avLst/>
          </a:prstGeom>
          <a:noFill/>
          <a:ln/>
        </p:spPr>
        <p:txBody>
          <a:bodyPr wrap="square" lIns="0" tIns="0" rIns="0" bIns="0" rtlCol="0" anchor="ctr"/>
          <a:lstStyle/>
          <a:p>
            <a:pPr indent="0" marL="0">
              <a:buNone/>
            </a:pPr>
            <a:r>
              <a:rPr lang="en-US" sz="1000" dirty="0">
                <a:solidFill>
                  <a:srgbClr val="5B6B85"/>
                </a:solidFill>
                <a:latin typeface="Leelawadee UI" pitchFamily="34" charset="0"/>
                <a:ea typeface="Leelawadee UI" pitchFamily="34" charset="-122"/>
                <a:cs typeface="Leelawadee UI" pitchFamily="34" charset="-120"/>
              </a:rPr>
              <a:t>เครื่องมือออกแบบ OWL Ontology มาตรฐาน</a:t>
            </a:r>
            <a:endParaRPr lang="en-US" sz="1000" dirty="0"/>
          </a:p>
        </p:txBody>
      </p:sp>
      <p:sp>
        <p:nvSpPr>
          <p:cNvPr id="7" name="Text 4"/>
          <p:cNvSpPr txBox="1"/>
          <p:nvPr/>
        </p:nvSpPr>
        <p:spPr>
          <a:xfrm>
            <a:off x="502920" y="2148840"/>
            <a:ext cx="5349240" cy="4114800"/>
          </a:xfrm>
          <a:prstGeom prst="rect">
            <a:avLst/>
          </a:prstGeom>
          <a:noFill/>
          <a:ln/>
        </p:spPr>
        <p:txBody>
          <a:bodyPr wrap="square" lIns="0" tIns="0" rIns="0" bIns="0" rtlCol="0" anchor="t"/>
          <a:lstStyle/>
          <a:p>
            <a:pPr marL="228600" indent="-228600">
              <a:lnSpc>
                <a:spcPct val="128000"/>
              </a:lnSpc>
              <a:spcAft>
                <a:spcPts val="600"/>
              </a:spcAft>
              <a:buSzPct val="100000"/>
              <a:buChar char="▪"/>
            </a:pPr>
            <a:r>
              <a:rPr lang="en-US" sz="1150" dirty="0">
                <a:solidFill>
                  <a:srgbClr val="0F1B33"/>
                </a:solidFill>
                <a:latin typeface="Leelawadee UI" pitchFamily="34" charset="0"/>
                <a:ea typeface="Leelawadee UI" pitchFamily="34" charset="-122"/>
                <a:cs typeface="Leelawadee UI" pitchFamily="34" charset="-120"/>
              </a:rPr>
              <a:t>4 Classes: Fruit, Color, FruitCategory, Country พร้อม Object/Data Properties (hasColor, grownIn, belongsToCategory, sweetness)</a:t>
            </a:r>
            <a:endParaRPr lang="en-US" sz="1150" dirty="0"/>
          </a:p>
          <a:p>
            <a:pPr marL="228600" indent="-228600">
              <a:lnSpc>
                <a:spcPct val="128000"/>
              </a:lnSpc>
              <a:spcAft>
                <a:spcPts val="600"/>
              </a:spcAft>
              <a:buSzPct val="100000"/>
              <a:buChar char="▪"/>
            </a:pPr>
            <a:r>
              <a:rPr lang="en-US" sz="1150" dirty="0">
                <a:solidFill>
                  <a:srgbClr val="0F1B33"/>
                </a:solidFill>
                <a:latin typeface="Leelawadee UI" pitchFamily="34" charset="0"/>
                <a:ea typeface="Leelawadee UI" pitchFamily="34" charset="-122"/>
                <a:cs typeface="Leelawadee UI" pitchFamily="34" charset="-120"/>
              </a:rPr>
              <a:t>Export เป็น fruit-ontology.owl (RDF/XML) เพื่อนำเข้า Fuseki ต่อ</a:t>
            </a:r>
            <a:endParaRPr lang="en-US" sz="1150" dirty="0"/>
          </a:p>
        </p:txBody>
      </p:sp>
      <p:sp>
        <p:nvSpPr>
          <p:cNvPr id="8" name="Shape 5"/>
          <p:cNvSpPr/>
          <p:nvPr/>
        </p:nvSpPr>
        <p:spPr>
          <a:xfrm>
            <a:off x="717804" y="3291840"/>
            <a:ext cx="4919472" cy="2342921"/>
          </a:xfrm>
          <a:prstGeom prst="roundRect">
            <a:avLst>
              <a:gd name="adj" fmla="val 3513"/>
            </a:avLst>
          </a:prstGeom>
          <a:solidFill>
            <a:srgbClr val="FFFFFF"/>
          </a:solidFill>
          <a:ln w="12700">
            <a:solidFill>
              <a:srgbClr val="E3E8F0"/>
            </a:solidFill>
            <a:prstDash val="solid"/>
          </a:ln>
          <a:effectLst>
            <a:outerShdw sx="100000" sy="100000" kx="0" ky="0" algn="bl" rotWithShape="0" blurRad="127000" dist="38100" dir="5400000">
              <a:srgbClr val="1B2A4A">
                <a:alpha val="28000"/>
              </a:srgbClr>
            </a:outerShdw>
          </a:effectLst>
        </p:spPr>
      </p:sp>
      <p:pic>
        <p:nvPicPr>
          <p:cNvPr id="9" name="Image 1" descr="/tmp/claude-0/-home-claude/031105a5-f49f-54fe-8ccb-acf4a5fade53/scratchpad/deck/assets/shot_webprotege.png">    </p:cNvPr>
          <p:cNvPicPr>
            <a:picLocks noChangeAspect="1"/>
          </p:cNvPicPr>
          <p:nvPr/>
        </p:nvPicPr>
        <p:blipFill>
          <a:blip r:embed="rId2"/>
          <a:stretch>
            <a:fillRect/>
          </a:stretch>
        </p:blipFill>
        <p:spPr>
          <a:xfrm>
            <a:off x="845820" y="3419856"/>
            <a:ext cx="4663440" cy="2086889"/>
          </a:xfrm>
          <a:prstGeom prst="rect">
            <a:avLst/>
          </a:prstGeom>
        </p:spPr>
      </p:pic>
      <p:sp>
        <p:nvSpPr>
          <p:cNvPr id="10" name="Text 6"/>
          <p:cNvSpPr txBox="1"/>
          <p:nvPr/>
        </p:nvSpPr>
        <p:spPr>
          <a:xfrm>
            <a:off x="717804" y="5726201"/>
            <a:ext cx="4919472" cy="256032"/>
          </a:xfrm>
          <a:prstGeom prst="rect">
            <a:avLst/>
          </a:prstGeom>
          <a:noFill/>
          <a:ln/>
        </p:spPr>
        <p:txBody>
          <a:bodyPr wrap="square" lIns="0" tIns="0" rIns="0" bIns="0" rtlCol="0" anchor="ctr"/>
          <a:lstStyle/>
          <a:p>
            <a:pPr algn="ctr" indent="0" marL="0">
              <a:buNone/>
            </a:pPr>
            <a:r>
              <a:rPr lang="en-US" sz="1000" i="1" dirty="0">
                <a:solidFill>
                  <a:srgbClr val="5B6B85"/>
                </a:solidFill>
                <a:latin typeface="Leelawadee UI" pitchFamily="34" charset="0"/>
                <a:ea typeface="Leelawadee UI" pitchFamily="34" charset="-122"/>
                <a:cs typeface="Leelawadee UI" pitchFamily="34" charset="-120"/>
              </a:rPr>
              <a:t>WebProtégé — Class Hierarchy</a:t>
            </a:r>
            <a:endParaRPr lang="en-US" sz="1000" dirty="0"/>
          </a:p>
        </p:txBody>
      </p:sp>
      <p:pic>
        <p:nvPicPr>
          <p:cNvPr id="11" name="Image 2" descr="/tmp/claude-0/-home-claude/031105a5-f49f-54fe-8ccb-acf4a5fade53/scratchpad/deck/assets/logo_apache.png">    </p:cNvPr>
          <p:cNvPicPr>
            <a:picLocks noChangeAspect="1"/>
          </p:cNvPicPr>
          <p:nvPr/>
        </p:nvPicPr>
        <p:blipFill>
          <a:blip r:embed="rId3"/>
          <a:stretch>
            <a:fillRect/>
          </a:stretch>
        </p:blipFill>
        <p:spPr>
          <a:xfrm>
            <a:off x="6336792" y="1481328"/>
            <a:ext cx="512064" cy="512064"/>
          </a:xfrm>
          <a:prstGeom prst="rect">
            <a:avLst/>
          </a:prstGeom>
          <a:effectLst>
            <a:outerShdw sx="100000" sy="100000" kx="0" ky="0" algn="bl" rotWithShape="0" blurRad="76200" dist="25400" dir="5400000">
              <a:srgbClr val="1B2A4A">
                <a:alpha val="28000"/>
              </a:srgbClr>
            </a:outerShdw>
          </a:effectLst>
        </p:spPr>
      </p:pic>
      <p:sp>
        <p:nvSpPr>
          <p:cNvPr id="12" name="Text 7"/>
          <p:cNvSpPr txBox="1"/>
          <p:nvPr/>
        </p:nvSpPr>
        <p:spPr>
          <a:xfrm>
            <a:off x="6995160" y="1508760"/>
            <a:ext cx="4690872" cy="274320"/>
          </a:xfrm>
          <a:prstGeom prst="rect">
            <a:avLst/>
          </a:prstGeom>
          <a:noFill/>
          <a:ln/>
        </p:spPr>
        <p:txBody>
          <a:bodyPr wrap="square" lIns="0" tIns="0" rIns="0" bIns="0" rtlCol="0" anchor="ctr"/>
          <a:lstStyle/>
          <a:p>
            <a:pPr indent="0" marL="0">
              <a:buNone/>
            </a:pPr>
            <a:r>
              <a:rPr lang="en-US" sz="1350" b="1" dirty="0">
                <a:solidFill>
                  <a:srgbClr val="0F1B33"/>
                </a:solidFill>
                <a:latin typeface="Leelawadee UI" pitchFamily="34" charset="0"/>
                <a:ea typeface="Leelawadee UI" pitchFamily="34" charset="-122"/>
                <a:cs typeface="Leelawadee UI" pitchFamily="34" charset="-120"/>
              </a:rPr>
              <a:t>Apache Jena Fuseki — Knowledge Graph</a:t>
            </a:r>
            <a:endParaRPr lang="en-US" sz="1350" dirty="0"/>
          </a:p>
        </p:txBody>
      </p:sp>
      <p:sp>
        <p:nvSpPr>
          <p:cNvPr id="13" name="Text 8"/>
          <p:cNvSpPr txBox="1"/>
          <p:nvPr/>
        </p:nvSpPr>
        <p:spPr>
          <a:xfrm>
            <a:off x="6995160" y="1792224"/>
            <a:ext cx="4690872" cy="237744"/>
          </a:xfrm>
          <a:prstGeom prst="rect">
            <a:avLst/>
          </a:prstGeom>
          <a:noFill/>
          <a:ln/>
        </p:spPr>
        <p:txBody>
          <a:bodyPr wrap="square" lIns="0" tIns="0" rIns="0" bIns="0" rtlCol="0" anchor="ctr"/>
          <a:lstStyle/>
          <a:p>
            <a:pPr indent="0" marL="0">
              <a:buNone/>
            </a:pPr>
            <a:r>
              <a:rPr lang="en-US" sz="1000" dirty="0">
                <a:solidFill>
                  <a:srgbClr val="5B6B85"/>
                </a:solidFill>
                <a:latin typeface="Leelawadee UI" pitchFamily="34" charset="0"/>
                <a:ea typeface="Leelawadee UI" pitchFamily="34" charset="-122"/>
                <a:cs typeface="Leelawadee UI" pitchFamily="34" charset="-120"/>
              </a:rPr>
              <a:t>RDF Triple Store + SPARQL Server</a:t>
            </a:r>
            <a:endParaRPr lang="en-US" sz="1000" dirty="0"/>
          </a:p>
        </p:txBody>
      </p:sp>
      <p:sp>
        <p:nvSpPr>
          <p:cNvPr id="14" name="Text 9"/>
          <p:cNvSpPr txBox="1"/>
          <p:nvPr/>
        </p:nvSpPr>
        <p:spPr>
          <a:xfrm>
            <a:off x="6336792" y="2148840"/>
            <a:ext cx="5349240" cy="4114800"/>
          </a:xfrm>
          <a:prstGeom prst="rect">
            <a:avLst/>
          </a:prstGeom>
          <a:noFill/>
          <a:ln/>
        </p:spPr>
        <p:txBody>
          <a:bodyPr wrap="square" lIns="0" tIns="0" rIns="0" bIns="0" rtlCol="0" anchor="t"/>
          <a:lstStyle/>
          <a:p>
            <a:pPr marL="228600" indent="-228600">
              <a:lnSpc>
                <a:spcPct val="128000"/>
              </a:lnSpc>
              <a:spcAft>
                <a:spcPts val="600"/>
              </a:spcAft>
              <a:buSzPct val="100000"/>
              <a:buChar char="▪"/>
            </a:pPr>
            <a:r>
              <a:rPr lang="en-US" sz="1150" dirty="0">
                <a:solidFill>
                  <a:srgbClr val="0F1B33"/>
                </a:solidFill>
                <a:latin typeface="Leelawadee UI" pitchFamily="34" charset="0"/>
                <a:ea typeface="Leelawadee UI" pitchFamily="34" charset="-122"/>
                <a:cs typeface="Leelawadee UI" pitchFamily="34" charset="-120"/>
              </a:rPr>
              <a:t>รันผ่าน Docker Compose (stain/jena-fuseki) — เก็บข้อมูลแบบ persistent ด้วย TDB2 storage</a:t>
            </a:r>
            <a:endParaRPr lang="en-US" sz="1150" dirty="0"/>
          </a:p>
          <a:p>
            <a:pPr marL="228600" indent="-228600">
              <a:lnSpc>
                <a:spcPct val="128000"/>
              </a:lnSpc>
              <a:spcAft>
                <a:spcPts val="600"/>
              </a:spcAft>
              <a:buSzPct val="100000"/>
              <a:buChar char="▪"/>
            </a:pPr>
            <a:r>
              <a:rPr lang="en-US" sz="1150" dirty="0">
                <a:solidFill>
                  <a:srgbClr val="0F1B33"/>
                </a:solidFill>
                <a:latin typeface="Leelawadee UI" pitchFamily="34" charset="0"/>
                <a:ea typeface="Leelawadee UI" pitchFamily="34" charset="-122"/>
                <a:cs typeface="Leelawadee UI" pitchFamily="34" charset="-120"/>
              </a:rPr>
              <a:t>เปิด SPARQL endpoint /fruit/query ให้ Backend เรียกแบบ read-only เท่านั้น</a:t>
            </a:r>
            <a:endParaRPr lang="en-US" sz="1150" dirty="0"/>
          </a:p>
        </p:txBody>
      </p:sp>
      <p:sp>
        <p:nvSpPr>
          <p:cNvPr id="15" name="Shape 10"/>
          <p:cNvSpPr/>
          <p:nvPr/>
        </p:nvSpPr>
        <p:spPr>
          <a:xfrm>
            <a:off x="6780276" y="3291840"/>
            <a:ext cx="4462272" cy="2572093"/>
          </a:xfrm>
          <a:prstGeom prst="roundRect">
            <a:avLst>
              <a:gd name="adj" fmla="val 3200"/>
            </a:avLst>
          </a:prstGeom>
          <a:solidFill>
            <a:srgbClr val="FFFFFF"/>
          </a:solidFill>
          <a:ln w="12700">
            <a:solidFill>
              <a:srgbClr val="E3E8F0"/>
            </a:solidFill>
            <a:prstDash val="solid"/>
          </a:ln>
          <a:effectLst>
            <a:outerShdw sx="100000" sy="100000" kx="0" ky="0" algn="bl" rotWithShape="0" blurRad="127000" dist="38100" dir="5400000">
              <a:srgbClr val="1B2A4A">
                <a:alpha val="28000"/>
              </a:srgbClr>
            </a:outerShdw>
          </a:effectLst>
        </p:spPr>
      </p:sp>
      <p:pic>
        <p:nvPicPr>
          <p:cNvPr id="16" name="Image 3" descr="/tmp/claude-0/-home-claude/031105a5-f49f-54fe-8ccb-acf4a5fade53/scratchpad/deck/assets/shot_fuseki.png">    </p:cNvPr>
          <p:cNvPicPr>
            <a:picLocks noChangeAspect="1"/>
          </p:cNvPicPr>
          <p:nvPr/>
        </p:nvPicPr>
        <p:blipFill>
          <a:blip r:embed="rId4"/>
          <a:stretch>
            <a:fillRect/>
          </a:stretch>
        </p:blipFill>
        <p:spPr>
          <a:xfrm>
            <a:off x="6908292" y="3419856"/>
            <a:ext cx="4206240" cy="2316061"/>
          </a:xfrm>
          <a:prstGeom prst="rect">
            <a:avLst/>
          </a:prstGeom>
        </p:spPr>
      </p:pic>
      <p:sp>
        <p:nvSpPr>
          <p:cNvPr id="17" name="Text 11"/>
          <p:cNvSpPr txBox="1"/>
          <p:nvPr/>
        </p:nvSpPr>
        <p:spPr>
          <a:xfrm>
            <a:off x="6780276" y="5955373"/>
            <a:ext cx="4462272" cy="256032"/>
          </a:xfrm>
          <a:prstGeom prst="rect">
            <a:avLst/>
          </a:prstGeom>
          <a:noFill/>
          <a:ln/>
        </p:spPr>
        <p:txBody>
          <a:bodyPr wrap="square" lIns="0" tIns="0" rIns="0" bIns="0" rtlCol="0" anchor="ctr"/>
          <a:lstStyle/>
          <a:p>
            <a:pPr algn="ctr" indent="0" marL="0">
              <a:buNone/>
            </a:pPr>
            <a:r>
              <a:rPr lang="en-US" sz="1000" i="1" dirty="0">
                <a:solidFill>
                  <a:srgbClr val="5B6B85"/>
                </a:solidFill>
                <a:latin typeface="Leelawadee UI" pitchFamily="34" charset="0"/>
                <a:ea typeface="Leelawadee UI" pitchFamily="34" charset="-122"/>
                <a:cs typeface="Leelawadee UI" pitchFamily="34" charset="-120"/>
              </a:rPr>
              <a:t>Fuseki — SPARQL Query บน dataset “fruit”</a:t>
            </a:r>
            <a:endParaRPr lang="en-US" sz="1000" dirty="0"/>
          </a:p>
        </p:txBody>
      </p:sp>
      <p:sp>
        <p:nvSpPr>
          <p:cNvPr id="19" name="Text 12"/>
          <p:cNvSpPr txBox="1"/>
          <p:nvPr/>
        </p:nvSpPr>
        <p:spPr>
          <a:xfrm>
            <a:off x="502920" y="6473952"/>
            <a:ext cx="7315200" cy="274320"/>
          </a:xfrm>
          <a:prstGeom prst="rect">
            <a:avLst/>
          </a:prstGeom>
          <a:noFill/>
          <a:ln/>
        </p:spPr>
        <p:txBody>
          <a:bodyPr wrap="square" lIns="0" tIns="0" rIns="0" bIns="0" rtlCol="0" anchor="ctr"/>
          <a:lstStyle/>
          <a:p>
            <a:pPr algn="l" indent="0" marL="0">
              <a:buNone/>
            </a:pPr>
            <a:r>
              <a:rPr lang="en-US" sz="1000" dirty="0">
                <a:solidFill>
                  <a:srgbClr val="5B6B85"/>
                </a:solidFill>
                <a:latin typeface="Leelawadee UI" pitchFamily="34" charset="0"/>
                <a:ea typeface="Leelawadee UI" pitchFamily="34" charset="-122"/>
                <a:cs typeface="Leelawadee UI" pitchFamily="34" charset="-120"/>
              </a:rPr>
              <a:t>GraphMind — Tech Stack &amp; Concept</a:t>
            </a:r>
            <a:endParaRPr lang="en-US" sz="1000" dirty="0"/>
          </a:p>
        </p:txBody>
      </p:sp>
      <p:sp>
        <p:nvSpPr>
          <p:cNvPr id="20" name="Text 13"/>
          <p:cNvSpPr txBox="1"/>
          <p:nvPr/>
        </p:nvSpPr>
        <p:spPr>
          <a:xfrm>
            <a:off x="11140135" y="6473952"/>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Leelawadee UI" pitchFamily="34" charset="0"/>
                <a:ea typeface="Leelawadee UI" pitchFamily="34" charset="-122"/>
                <a:cs typeface="Leelawadee U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algn="l" indent="0" marL="0">
              <a:buNone/>
            </a:pPr>
            <a:r>
              <a:rPr lang="en-US" sz="1250" b="1" spc="200" kern="0" dirty="0">
                <a:solidFill>
                  <a:srgbClr val="F5A524"/>
                </a:solidFill>
                <a:latin typeface="Leelawadee UI" pitchFamily="34" charset="0"/>
                <a:ea typeface="Leelawadee UI" pitchFamily="34" charset="-122"/>
                <a:cs typeface="Leelawadee UI" pitchFamily="34" charset="-120"/>
              </a:rPr>
              <a:t>TECH STACK · APPLICATION LAYER</a:t>
            </a:r>
            <a:endParaRPr lang="en-US" sz="1250" dirty="0"/>
          </a:p>
        </p:txBody>
      </p:sp>
      <p:sp>
        <p:nvSpPr>
          <p:cNvPr id="3" name="Text 1"/>
          <p:cNvSpPr txBox="1"/>
          <p:nvPr/>
        </p:nvSpPr>
        <p:spPr>
          <a:xfrm>
            <a:off x="502920" y="457200"/>
            <a:ext cx="11185855" cy="685800"/>
          </a:xfrm>
          <a:prstGeom prst="rect">
            <a:avLst/>
          </a:prstGeom>
          <a:noFill/>
          <a:ln/>
        </p:spPr>
        <p:txBody>
          <a:bodyPr wrap="square" lIns="0" tIns="0" rIns="0" bIns="0" rtlCol="0" anchor="t"/>
          <a:lstStyle/>
          <a:p>
            <a:pPr algn="l" indent="0" marL="0">
              <a:buNone/>
            </a:pPr>
            <a:r>
              <a:rPr lang="en-US" sz="3000" b="1" dirty="0">
                <a:solidFill>
                  <a:srgbClr val="0F1B33"/>
                </a:solidFill>
                <a:latin typeface="Leelawadee UI" pitchFamily="34" charset="0"/>
                <a:ea typeface="Leelawadee UI" pitchFamily="34" charset="-122"/>
                <a:cs typeface="Leelawadee UI" pitchFamily="34" charset="-120"/>
              </a:rPr>
              <a:t>Ollama, FastAPI และ Next.js ทำงานร่วมกัน</a:t>
            </a:r>
            <a:endParaRPr lang="en-US" sz="3000" dirty="0"/>
          </a:p>
        </p:txBody>
      </p:sp>
      <p:sp>
        <p:nvSpPr>
          <p:cNvPr id="4" name="Shape 2"/>
          <p:cNvSpPr/>
          <p:nvPr/>
        </p:nvSpPr>
        <p:spPr>
          <a:xfrm>
            <a:off x="502920" y="1481328"/>
            <a:ext cx="3576218" cy="1554480"/>
          </a:xfrm>
          <a:prstGeom prst="roundRect">
            <a:avLst>
              <a:gd name="adj" fmla="val 5882"/>
            </a:avLst>
          </a:prstGeom>
          <a:solidFill>
            <a:srgbClr val="F4F6FA"/>
          </a:solidFill>
          <a:ln/>
        </p:spPr>
      </p:sp>
      <p:pic>
        <p:nvPicPr>
          <p:cNvPr id="5" name="Image 0" descr="/tmp/claude-0/-home-claude/031105a5-f49f-54fe-8ccb-acf4a5fade53/scratchpad/deck/assets/logo_ollama.png">    </p:cNvPr>
          <p:cNvPicPr>
            <a:picLocks noChangeAspect="1"/>
          </p:cNvPicPr>
          <p:nvPr/>
        </p:nvPicPr>
        <p:blipFill>
          <a:blip r:embed="rId1"/>
          <a:stretch>
            <a:fillRect/>
          </a:stretch>
        </p:blipFill>
        <p:spPr>
          <a:xfrm>
            <a:off x="704088" y="1645920"/>
            <a:ext cx="457200" cy="457200"/>
          </a:xfrm>
          <a:prstGeom prst="rect">
            <a:avLst/>
          </a:prstGeom>
          <a:effectLst>
            <a:outerShdw sx="100000" sy="100000" kx="0" ky="0" algn="bl" rotWithShape="0" blurRad="76200" dist="25400" dir="5400000">
              <a:srgbClr val="1B2A4A">
                <a:alpha val="28000"/>
              </a:srgbClr>
            </a:outerShdw>
          </a:effectLst>
        </p:spPr>
      </p:pic>
      <p:sp>
        <p:nvSpPr>
          <p:cNvPr id="6" name="Text 3"/>
          <p:cNvSpPr txBox="1"/>
          <p:nvPr/>
        </p:nvSpPr>
        <p:spPr>
          <a:xfrm>
            <a:off x="1289304" y="1664208"/>
            <a:ext cx="2588666" cy="502920"/>
          </a:xfrm>
          <a:prstGeom prst="rect">
            <a:avLst/>
          </a:prstGeom>
          <a:noFill/>
          <a:ln/>
        </p:spPr>
        <p:txBody>
          <a:bodyPr wrap="square" lIns="0" tIns="0" rIns="0" bIns="0" rtlCol="0" anchor="ctr"/>
          <a:lstStyle/>
          <a:p>
            <a:pPr indent="0" marL="0">
              <a:lnSpc>
                <a:spcPct val="105000"/>
              </a:lnSpc>
              <a:buNone/>
            </a:pPr>
            <a:r>
              <a:rPr lang="en-US" sz="1200" b="1" dirty="0">
                <a:solidFill>
                  <a:srgbClr val="0F1B33"/>
                </a:solidFill>
                <a:latin typeface="Leelawadee UI" pitchFamily="34" charset="0"/>
                <a:ea typeface="Leelawadee UI" pitchFamily="34" charset="-122"/>
                <a:cs typeface="Leelawadee UI" pitchFamily="34" charset="-120"/>
              </a:rPr>
              <a:t>Ollama · Local LLM</a:t>
            </a:r>
            <a:endParaRPr lang="en-US" sz="1200" dirty="0"/>
          </a:p>
        </p:txBody>
      </p:sp>
      <p:sp>
        <p:nvSpPr>
          <p:cNvPr id="7" name="Text 4"/>
          <p:cNvSpPr txBox="1"/>
          <p:nvPr/>
        </p:nvSpPr>
        <p:spPr>
          <a:xfrm>
            <a:off x="704088" y="2212848"/>
            <a:ext cx="3173882" cy="731520"/>
          </a:xfrm>
          <a:prstGeom prst="rect">
            <a:avLst/>
          </a:prstGeom>
          <a:noFill/>
          <a:ln/>
        </p:spPr>
        <p:txBody>
          <a:bodyPr wrap="square" lIns="0" tIns="0" rIns="0" bIns="0" rtlCol="0" anchor="ctr"/>
          <a:lstStyle/>
          <a:p>
            <a:pPr indent="0" marL="0">
              <a:lnSpc>
                <a:spcPct val="122000"/>
              </a:lnSpc>
              <a:buNone/>
            </a:pPr>
            <a:r>
              <a:rPr lang="en-US" sz="950" dirty="0">
                <a:solidFill>
                  <a:srgbClr val="5B6B85"/>
                </a:solidFill>
                <a:latin typeface="Leelawadee UI" pitchFamily="34" charset="0"/>
                <a:ea typeface="Leelawadee UI" pitchFamily="34" charset="-122"/>
                <a:cs typeface="Leelawadee UI" pitchFamily="34" charset="-120"/>
              </a:rPr>
              <a:t>qwen2.5:3b แปลง NL ⇄ SPARQL แบบ deterministic ไม่มี Agent loop</a:t>
            </a:r>
            <a:endParaRPr lang="en-US" sz="950" dirty="0"/>
          </a:p>
        </p:txBody>
      </p:sp>
      <p:sp>
        <p:nvSpPr>
          <p:cNvPr id="8" name="Shape 5"/>
          <p:cNvSpPr/>
          <p:nvPr/>
        </p:nvSpPr>
        <p:spPr>
          <a:xfrm>
            <a:off x="4307738" y="1481328"/>
            <a:ext cx="3576218" cy="1554480"/>
          </a:xfrm>
          <a:prstGeom prst="roundRect">
            <a:avLst>
              <a:gd name="adj" fmla="val 5882"/>
            </a:avLst>
          </a:prstGeom>
          <a:solidFill>
            <a:srgbClr val="F4F6FA"/>
          </a:solidFill>
          <a:ln/>
        </p:spPr>
      </p:sp>
      <p:pic>
        <p:nvPicPr>
          <p:cNvPr id="9" name="Image 1" descr="/tmp/claude-0/-home-claude/031105a5-f49f-54fe-8ccb-acf4a5fade53/scratchpad/deck/assets/logo_fastapi.png">    </p:cNvPr>
          <p:cNvPicPr>
            <a:picLocks noChangeAspect="1"/>
          </p:cNvPicPr>
          <p:nvPr/>
        </p:nvPicPr>
        <p:blipFill>
          <a:blip r:embed="rId2"/>
          <a:stretch>
            <a:fillRect/>
          </a:stretch>
        </p:blipFill>
        <p:spPr>
          <a:xfrm>
            <a:off x="4508906" y="1645920"/>
            <a:ext cx="457200" cy="457200"/>
          </a:xfrm>
          <a:prstGeom prst="rect">
            <a:avLst/>
          </a:prstGeom>
          <a:effectLst>
            <a:outerShdw sx="100000" sy="100000" kx="0" ky="0" algn="bl" rotWithShape="0" blurRad="76200" dist="25400" dir="5400000">
              <a:srgbClr val="1B2A4A">
                <a:alpha val="28000"/>
              </a:srgbClr>
            </a:outerShdw>
          </a:effectLst>
        </p:spPr>
      </p:pic>
      <p:sp>
        <p:nvSpPr>
          <p:cNvPr id="10" name="Text 6"/>
          <p:cNvSpPr txBox="1"/>
          <p:nvPr/>
        </p:nvSpPr>
        <p:spPr>
          <a:xfrm>
            <a:off x="5094122" y="1664208"/>
            <a:ext cx="2588666" cy="502920"/>
          </a:xfrm>
          <a:prstGeom prst="rect">
            <a:avLst/>
          </a:prstGeom>
          <a:noFill/>
          <a:ln/>
        </p:spPr>
        <p:txBody>
          <a:bodyPr wrap="square" lIns="0" tIns="0" rIns="0" bIns="0" rtlCol="0" anchor="ctr"/>
          <a:lstStyle/>
          <a:p>
            <a:pPr indent="0" marL="0">
              <a:lnSpc>
                <a:spcPct val="105000"/>
              </a:lnSpc>
              <a:buNone/>
            </a:pPr>
            <a:r>
              <a:rPr lang="en-US" sz="1200" b="1" dirty="0">
                <a:solidFill>
                  <a:srgbClr val="0F1B33"/>
                </a:solidFill>
                <a:latin typeface="Leelawadee UI" pitchFamily="34" charset="0"/>
                <a:ea typeface="Leelawadee UI" pitchFamily="34" charset="-122"/>
                <a:cs typeface="Leelawadee UI" pitchFamily="34" charset="-120"/>
              </a:rPr>
              <a:t>FastAPI · Backend</a:t>
            </a:r>
            <a:endParaRPr lang="en-US" sz="1200" dirty="0"/>
          </a:p>
        </p:txBody>
      </p:sp>
      <p:sp>
        <p:nvSpPr>
          <p:cNvPr id="11" name="Text 7"/>
          <p:cNvSpPr txBox="1"/>
          <p:nvPr/>
        </p:nvSpPr>
        <p:spPr>
          <a:xfrm>
            <a:off x="4508906" y="2212848"/>
            <a:ext cx="3173882" cy="731520"/>
          </a:xfrm>
          <a:prstGeom prst="rect">
            <a:avLst/>
          </a:prstGeom>
          <a:noFill/>
          <a:ln/>
        </p:spPr>
        <p:txBody>
          <a:bodyPr wrap="square" lIns="0" tIns="0" rIns="0" bIns="0" rtlCol="0" anchor="ctr"/>
          <a:lstStyle/>
          <a:p>
            <a:pPr indent="0" marL="0">
              <a:lnSpc>
                <a:spcPct val="122000"/>
              </a:lnSpc>
              <a:buNone/>
            </a:pPr>
            <a:r>
              <a:rPr lang="en-US" sz="950" dirty="0">
                <a:solidFill>
                  <a:srgbClr val="5B6B85"/>
                </a:solidFill>
                <a:latin typeface="Leelawadee UI" pitchFamily="34" charset="0"/>
                <a:ea typeface="Leelawadee UI" pitchFamily="34" charset="-122"/>
                <a:cs typeface="Leelawadee UI" pitchFamily="34" charset="-120"/>
              </a:rPr>
              <a:t>SparqlValidator ตรวจทุก query + เก็บประวัติแชทใน SQLite</a:t>
            </a:r>
            <a:endParaRPr lang="en-US" sz="950" dirty="0"/>
          </a:p>
        </p:txBody>
      </p:sp>
      <p:sp>
        <p:nvSpPr>
          <p:cNvPr id="12" name="Shape 8"/>
          <p:cNvSpPr/>
          <p:nvPr/>
        </p:nvSpPr>
        <p:spPr>
          <a:xfrm>
            <a:off x="8112557" y="1481328"/>
            <a:ext cx="3576218" cy="1554480"/>
          </a:xfrm>
          <a:prstGeom prst="roundRect">
            <a:avLst>
              <a:gd name="adj" fmla="val 5882"/>
            </a:avLst>
          </a:prstGeom>
          <a:solidFill>
            <a:srgbClr val="F4F6FA"/>
          </a:solidFill>
          <a:ln/>
        </p:spPr>
      </p:sp>
      <p:pic>
        <p:nvPicPr>
          <p:cNvPr id="13" name="Image 2" descr="/tmp/claude-0/-home-claude/031105a5-f49f-54fe-8ccb-acf4a5fade53/scratchpad/deck/assets/logo_nextjs.png">    </p:cNvPr>
          <p:cNvPicPr>
            <a:picLocks noChangeAspect="1"/>
          </p:cNvPicPr>
          <p:nvPr/>
        </p:nvPicPr>
        <p:blipFill>
          <a:blip r:embed="rId3"/>
          <a:stretch>
            <a:fillRect/>
          </a:stretch>
        </p:blipFill>
        <p:spPr>
          <a:xfrm>
            <a:off x="8313725" y="1645920"/>
            <a:ext cx="457200" cy="457200"/>
          </a:xfrm>
          <a:prstGeom prst="rect">
            <a:avLst/>
          </a:prstGeom>
          <a:effectLst>
            <a:outerShdw sx="100000" sy="100000" kx="0" ky="0" algn="bl" rotWithShape="0" blurRad="76200" dist="25400" dir="5400000">
              <a:srgbClr val="1B2A4A">
                <a:alpha val="28000"/>
              </a:srgbClr>
            </a:outerShdw>
          </a:effectLst>
        </p:spPr>
      </p:pic>
      <p:sp>
        <p:nvSpPr>
          <p:cNvPr id="14" name="Text 9"/>
          <p:cNvSpPr txBox="1"/>
          <p:nvPr/>
        </p:nvSpPr>
        <p:spPr>
          <a:xfrm>
            <a:off x="8898941" y="1664208"/>
            <a:ext cx="2588666" cy="502920"/>
          </a:xfrm>
          <a:prstGeom prst="rect">
            <a:avLst/>
          </a:prstGeom>
          <a:noFill/>
          <a:ln/>
        </p:spPr>
        <p:txBody>
          <a:bodyPr wrap="square" lIns="0" tIns="0" rIns="0" bIns="0" rtlCol="0" anchor="ctr"/>
          <a:lstStyle/>
          <a:p>
            <a:pPr indent="0" marL="0">
              <a:lnSpc>
                <a:spcPct val="105000"/>
              </a:lnSpc>
              <a:buNone/>
            </a:pPr>
            <a:r>
              <a:rPr lang="en-US" sz="1200" b="1" dirty="0">
                <a:solidFill>
                  <a:srgbClr val="0F1B33"/>
                </a:solidFill>
                <a:latin typeface="Leelawadee UI" pitchFamily="34" charset="0"/>
                <a:ea typeface="Leelawadee UI" pitchFamily="34" charset="-122"/>
                <a:cs typeface="Leelawadee UI" pitchFamily="34" charset="-120"/>
              </a:rPr>
              <a:t>Next.js · Frontend</a:t>
            </a:r>
            <a:endParaRPr lang="en-US" sz="1200" dirty="0"/>
          </a:p>
        </p:txBody>
      </p:sp>
      <p:sp>
        <p:nvSpPr>
          <p:cNvPr id="15" name="Text 10"/>
          <p:cNvSpPr txBox="1"/>
          <p:nvPr/>
        </p:nvSpPr>
        <p:spPr>
          <a:xfrm>
            <a:off x="8313725" y="2212848"/>
            <a:ext cx="3173882" cy="731520"/>
          </a:xfrm>
          <a:prstGeom prst="rect">
            <a:avLst/>
          </a:prstGeom>
          <a:noFill/>
          <a:ln/>
        </p:spPr>
        <p:txBody>
          <a:bodyPr wrap="square" lIns="0" tIns="0" rIns="0" bIns="0" rtlCol="0" anchor="ctr"/>
          <a:lstStyle/>
          <a:p>
            <a:pPr indent="0" marL="0">
              <a:lnSpc>
                <a:spcPct val="122000"/>
              </a:lnSpc>
              <a:buNone/>
            </a:pPr>
            <a:r>
              <a:rPr lang="en-US" sz="950" dirty="0">
                <a:solidFill>
                  <a:srgbClr val="5B6B85"/>
                </a:solidFill>
                <a:latin typeface="Leelawadee UI" pitchFamily="34" charset="0"/>
                <a:ea typeface="Leelawadee UI" pitchFamily="34" charset="-122"/>
                <a:cs typeface="Leelawadee UI" pitchFamily="34" charset="-120"/>
              </a:rPr>
              <a:t>React 19 + TypeScript + Tailwind — แสดง Evidence และ SPARQL แบบโปร่งใส</a:t>
            </a:r>
            <a:endParaRPr lang="en-US" sz="950" dirty="0"/>
          </a:p>
        </p:txBody>
      </p:sp>
      <p:sp>
        <p:nvSpPr>
          <p:cNvPr id="16" name="Shape 11"/>
          <p:cNvSpPr/>
          <p:nvPr/>
        </p:nvSpPr>
        <p:spPr>
          <a:xfrm>
            <a:off x="946404" y="3246120"/>
            <a:ext cx="4462272" cy="2440648"/>
          </a:xfrm>
          <a:prstGeom prst="roundRect">
            <a:avLst>
              <a:gd name="adj" fmla="val 3372"/>
            </a:avLst>
          </a:prstGeom>
          <a:solidFill>
            <a:srgbClr val="FFFFFF"/>
          </a:solidFill>
          <a:ln w="12700">
            <a:solidFill>
              <a:srgbClr val="E3E8F0"/>
            </a:solidFill>
            <a:prstDash val="solid"/>
          </a:ln>
          <a:effectLst>
            <a:outerShdw sx="100000" sy="100000" kx="0" ky="0" algn="bl" rotWithShape="0" blurRad="127000" dist="38100" dir="5400000">
              <a:srgbClr val="1B2A4A">
                <a:alpha val="28000"/>
              </a:srgbClr>
            </a:outerShdw>
          </a:effectLst>
        </p:spPr>
      </p:sp>
      <p:pic>
        <p:nvPicPr>
          <p:cNvPr id="17" name="Image 3" descr="/tmp/claude-0/-home-claude/031105a5-f49f-54fe-8ccb-acf4a5fade53/scratchpad/deck/assets/shot_ollama.png">    </p:cNvPr>
          <p:cNvPicPr>
            <a:picLocks noChangeAspect="1"/>
          </p:cNvPicPr>
          <p:nvPr/>
        </p:nvPicPr>
        <p:blipFill>
          <a:blip r:embed="rId4"/>
          <a:stretch>
            <a:fillRect/>
          </a:stretch>
        </p:blipFill>
        <p:spPr>
          <a:xfrm>
            <a:off x="1074420" y="3374136"/>
            <a:ext cx="4206240" cy="2184616"/>
          </a:xfrm>
          <a:prstGeom prst="rect">
            <a:avLst/>
          </a:prstGeom>
        </p:spPr>
      </p:pic>
      <p:sp>
        <p:nvSpPr>
          <p:cNvPr id="18" name="Text 12"/>
          <p:cNvSpPr txBox="1"/>
          <p:nvPr/>
        </p:nvSpPr>
        <p:spPr>
          <a:xfrm>
            <a:off x="946404" y="5778208"/>
            <a:ext cx="4462272" cy="256032"/>
          </a:xfrm>
          <a:prstGeom prst="rect">
            <a:avLst/>
          </a:prstGeom>
          <a:noFill/>
          <a:ln/>
        </p:spPr>
        <p:txBody>
          <a:bodyPr wrap="square" lIns="0" tIns="0" rIns="0" bIns="0" rtlCol="0" anchor="ctr"/>
          <a:lstStyle/>
          <a:p>
            <a:pPr algn="ctr" indent="0" marL="0">
              <a:buNone/>
            </a:pPr>
            <a:r>
              <a:rPr lang="en-US" sz="1000" i="1" dirty="0">
                <a:solidFill>
                  <a:srgbClr val="5B6B85"/>
                </a:solidFill>
                <a:latin typeface="Leelawadee UI" pitchFamily="34" charset="0"/>
                <a:ea typeface="Leelawadee UI" pitchFamily="34" charset="-122"/>
                <a:cs typeface="Leelawadee UI" pitchFamily="34" charset="-120"/>
              </a:rPr>
              <a:t>Ollama Model Library — qwen2.5:3b</a:t>
            </a:r>
            <a:endParaRPr lang="en-US" sz="1000" dirty="0"/>
          </a:p>
        </p:txBody>
      </p:sp>
      <p:sp>
        <p:nvSpPr>
          <p:cNvPr id="19" name="Shape 13"/>
          <p:cNvSpPr/>
          <p:nvPr/>
        </p:nvSpPr>
        <p:spPr>
          <a:xfrm>
            <a:off x="6780276" y="3246120"/>
            <a:ext cx="4462272" cy="2666733"/>
          </a:xfrm>
          <a:prstGeom prst="roundRect">
            <a:avLst>
              <a:gd name="adj" fmla="val 3086"/>
            </a:avLst>
          </a:prstGeom>
          <a:solidFill>
            <a:srgbClr val="FFFFFF"/>
          </a:solidFill>
          <a:ln w="12700">
            <a:solidFill>
              <a:srgbClr val="E3E8F0"/>
            </a:solidFill>
            <a:prstDash val="solid"/>
          </a:ln>
          <a:effectLst>
            <a:outerShdw sx="100000" sy="100000" kx="0" ky="0" algn="bl" rotWithShape="0" blurRad="127000" dist="38100" dir="5400000">
              <a:srgbClr val="1B2A4A">
                <a:alpha val="28000"/>
              </a:srgbClr>
            </a:outerShdw>
          </a:effectLst>
        </p:spPr>
      </p:sp>
      <p:pic>
        <p:nvPicPr>
          <p:cNvPr id="20" name="Image 4" descr="/tmp/claude-0/-home-claude/031105a5-f49f-54fe-8ccb-acf4a5fade53/scratchpad/deck/assets/shot_graphmind.png">    </p:cNvPr>
          <p:cNvPicPr>
            <a:picLocks noChangeAspect="1"/>
          </p:cNvPicPr>
          <p:nvPr/>
        </p:nvPicPr>
        <p:blipFill>
          <a:blip r:embed="rId5"/>
          <a:stretch>
            <a:fillRect/>
          </a:stretch>
        </p:blipFill>
        <p:spPr>
          <a:xfrm>
            <a:off x="6908292" y="3374136"/>
            <a:ext cx="4206240" cy="2410701"/>
          </a:xfrm>
          <a:prstGeom prst="rect">
            <a:avLst/>
          </a:prstGeom>
        </p:spPr>
      </p:pic>
      <p:sp>
        <p:nvSpPr>
          <p:cNvPr id="21" name="Text 14"/>
          <p:cNvSpPr txBox="1"/>
          <p:nvPr/>
        </p:nvSpPr>
        <p:spPr>
          <a:xfrm>
            <a:off x="6780276" y="6004293"/>
            <a:ext cx="4462272" cy="256032"/>
          </a:xfrm>
          <a:prstGeom prst="rect">
            <a:avLst/>
          </a:prstGeom>
          <a:noFill/>
          <a:ln/>
        </p:spPr>
        <p:txBody>
          <a:bodyPr wrap="square" lIns="0" tIns="0" rIns="0" bIns="0" rtlCol="0" anchor="ctr"/>
          <a:lstStyle/>
          <a:p>
            <a:pPr algn="ctr" indent="0" marL="0">
              <a:buNone/>
            </a:pPr>
            <a:r>
              <a:rPr lang="en-US" sz="1000" i="1" dirty="0">
                <a:solidFill>
                  <a:srgbClr val="5B6B85"/>
                </a:solidFill>
                <a:latin typeface="Leelawadee UI" pitchFamily="34" charset="0"/>
                <a:ea typeface="Leelawadee UI" pitchFamily="34" charset="-122"/>
                <a:cs typeface="Leelawadee UI" pitchFamily="34" charset="-120"/>
              </a:rPr>
              <a:t>GraphMind UI — Evidence + SPARQL Query</a:t>
            </a:r>
            <a:endParaRPr lang="en-US" sz="1000" dirty="0"/>
          </a:p>
        </p:txBody>
      </p:sp>
      <p:sp>
        <p:nvSpPr>
          <p:cNvPr id="23" name="Text 15"/>
          <p:cNvSpPr txBox="1"/>
          <p:nvPr/>
        </p:nvSpPr>
        <p:spPr>
          <a:xfrm>
            <a:off x="502920" y="6473952"/>
            <a:ext cx="7315200" cy="274320"/>
          </a:xfrm>
          <a:prstGeom prst="rect">
            <a:avLst/>
          </a:prstGeom>
          <a:noFill/>
          <a:ln/>
        </p:spPr>
        <p:txBody>
          <a:bodyPr wrap="square" lIns="0" tIns="0" rIns="0" bIns="0" rtlCol="0" anchor="ctr"/>
          <a:lstStyle/>
          <a:p>
            <a:pPr algn="l" indent="0" marL="0">
              <a:buNone/>
            </a:pPr>
            <a:r>
              <a:rPr lang="en-US" sz="1000" dirty="0">
                <a:solidFill>
                  <a:srgbClr val="5B6B85"/>
                </a:solidFill>
                <a:latin typeface="Leelawadee UI" pitchFamily="34" charset="0"/>
                <a:ea typeface="Leelawadee UI" pitchFamily="34" charset="-122"/>
                <a:cs typeface="Leelawadee UI" pitchFamily="34" charset="-120"/>
              </a:rPr>
              <a:t>GraphMind — Tech Stack &amp; Concept</a:t>
            </a:r>
            <a:endParaRPr lang="en-US" sz="1000" dirty="0"/>
          </a:p>
        </p:txBody>
      </p:sp>
      <p:sp>
        <p:nvSpPr>
          <p:cNvPr id="24" name="Text 16"/>
          <p:cNvSpPr txBox="1"/>
          <p:nvPr/>
        </p:nvSpPr>
        <p:spPr>
          <a:xfrm>
            <a:off x="11140135" y="6473952"/>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Leelawadee UI" pitchFamily="34" charset="0"/>
                <a:ea typeface="Leelawadee UI" pitchFamily="34" charset="-122"/>
                <a:cs typeface="Leelawadee U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01168"/>
            <a:ext cx="7315200" cy="274320"/>
          </a:xfrm>
          <a:prstGeom prst="rect">
            <a:avLst/>
          </a:prstGeom>
          <a:noFill/>
          <a:ln/>
        </p:spPr>
        <p:txBody>
          <a:bodyPr wrap="square" lIns="0" tIns="0" rIns="0" bIns="0" rtlCol="0" anchor="ctr"/>
          <a:lstStyle/>
          <a:p>
            <a:pPr algn="l" indent="0" marL="0">
              <a:buNone/>
            </a:pPr>
            <a:r>
              <a:rPr lang="en-US" sz="1250" b="1" spc="200" kern="0" dirty="0">
                <a:solidFill>
                  <a:srgbClr val="F5A524"/>
                </a:solidFill>
                <a:latin typeface="Leelawadee UI" pitchFamily="34" charset="0"/>
                <a:ea typeface="Leelawadee UI" pitchFamily="34" charset="-122"/>
                <a:cs typeface="Leelawadee UI" pitchFamily="34" charset="-120"/>
              </a:rPr>
              <a:t>CONCEPT การทำงาน</a:t>
            </a:r>
            <a:endParaRPr lang="en-US" sz="1250" dirty="0"/>
          </a:p>
        </p:txBody>
      </p:sp>
      <p:sp>
        <p:nvSpPr>
          <p:cNvPr id="3" name="Text 1"/>
          <p:cNvSpPr txBox="1"/>
          <p:nvPr/>
        </p:nvSpPr>
        <p:spPr>
          <a:xfrm>
            <a:off x="502920" y="457200"/>
            <a:ext cx="11185855" cy="685800"/>
          </a:xfrm>
          <a:prstGeom prst="rect">
            <a:avLst/>
          </a:prstGeom>
          <a:noFill/>
          <a:ln/>
        </p:spPr>
        <p:txBody>
          <a:bodyPr wrap="square" lIns="0" tIns="0" rIns="0" bIns="0" rtlCol="0" anchor="t"/>
          <a:lstStyle/>
          <a:p>
            <a:pPr algn="l" indent="0" marL="0">
              <a:buNone/>
            </a:pPr>
            <a:r>
              <a:rPr lang="en-US" sz="3000" b="1" dirty="0">
                <a:solidFill>
                  <a:srgbClr val="0F1B33"/>
                </a:solidFill>
                <a:latin typeface="Leelawadee UI" pitchFamily="34" charset="0"/>
                <a:ea typeface="Leelawadee UI" pitchFamily="34" charset="-122"/>
                <a:cs typeface="Leelawadee UI" pitchFamily="34" charset="-120"/>
              </a:rPr>
              <a:t>ขั้นตอนการทำงานแบบ End-to-End ต่อ 1 คำถาม</a:t>
            </a:r>
            <a:endParaRPr lang="en-US" sz="3000" dirty="0"/>
          </a:p>
        </p:txBody>
      </p:sp>
      <p:sp>
        <p:nvSpPr>
          <p:cNvPr id="4" name="Shape 2"/>
          <p:cNvSpPr/>
          <p:nvPr/>
        </p:nvSpPr>
        <p:spPr>
          <a:xfrm>
            <a:off x="502920" y="1920240"/>
            <a:ext cx="1742389" cy="3246120"/>
          </a:xfrm>
          <a:prstGeom prst="roundRect">
            <a:avLst>
              <a:gd name="adj" fmla="val 5773"/>
            </a:avLst>
          </a:prstGeom>
          <a:solidFill>
            <a:srgbClr val="F4F6FA"/>
          </a:solidFill>
          <a:ln/>
        </p:spPr>
      </p:sp>
      <p:pic>
        <p:nvPicPr>
          <p:cNvPr id="5" name="Image 0" descr="/tmp/claude-0/-home-claude/031105a5-f49f-54fe-8ccb-acf4a5fade53/scratchpad/deck/assets/ic_question.png">    </p:cNvPr>
          <p:cNvPicPr>
            <a:picLocks noChangeAspect="1"/>
          </p:cNvPicPr>
          <p:nvPr/>
        </p:nvPicPr>
        <p:blipFill>
          <a:blip r:embed="rId1"/>
          <a:stretch>
            <a:fillRect/>
          </a:stretch>
        </p:blipFill>
        <p:spPr>
          <a:xfrm>
            <a:off x="1044931" y="2176272"/>
            <a:ext cx="658368" cy="658368"/>
          </a:xfrm>
          <a:prstGeom prst="rect">
            <a:avLst/>
          </a:prstGeom>
          <a:effectLst>
            <a:outerShdw sx="100000" sy="100000" kx="0" ky="0" algn="bl" rotWithShape="0" blurRad="76200" dist="25400" dir="5400000">
              <a:srgbClr val="1B2A4A">
                <a:alpha val="28000"/>
              </a:srgbClr>
            </a:outerShdw>
          </a:effectLst>
        </p:spPr>
      </p:pic>
      <p:sp>
        <p:nvSpPr>
          <p:cNvPr id="6" name="Text 3"/>
          <p:cNvSpPr txBox="1"/>
          <p:nvPr/>
        </p:nvSpPr>
        <p:spPr>
          <a:xfrm>
            <a:off x="630936" y="3017520"/>
            <a:ext cx="1486357" cy="594360"/>
          </a:xfrm>
          <a:prstGeom prst="rect">
            <a:avLst/>
          </a:prstGeom>
          <a:noFill/>
          <a:ln/>
        </p:spPr>
        <p:txBody>
          <a:bodyPr wrap="square" lIns="0" tIns="0" rIns="0" bIns="0" rtlCol="0" anchor="ctr"/>
          <a:lstStyle/>
          <a:p>
            <a:pPr algn="ctr" indent="0" marL="0">
              <a:lnSpc>
                <a:spcPct val="108000"/>
              </a:lnSpc>
              <a:buNone/>
            </a:pPr>
            <a:r>
              <a:rPr lang="en-US" sz="1200" b="1" dirty="0">
                <a:solidFill>
                  <a:srgbClr val="0F1B33"/>
                </a:solidFill>
                <a:latin typeface="Leelawadee UI" pitchFamily="34" charset="0"/>
                <a:ea typeface="Leelawadee UI" pitchFamily="34" charset="-122"/>
                <a:cs typeface="Leelawadee UI" pitchFamily="34" charset="-120"/>
              </a:rPr>
              <a:t>1. ผู้ใช้ถามคำถาม</a:t>
            </a:r>
            <a:endParaRPr lang="en-US" sz="1200" dirty="0"/>
          </a:p>
        </p:txBody>
      </p:sp>
      <p:sp>
        <p:nvSpPr>
          <p:cNvPr id="7" name="Text 4"/>
          <p:cNvSpPr txBox="1"/>
          <p:nvPr/>
        </p:nvSpPr>
        <p:spPr>
          <a:xfrm>
            <a:off x="649224" y="3703320"/>
            <a:ext cx="1449781" cy="1280160"/>
          </a:xfrm>
          <a:prstGeom prst="rect">
            <a:avLst/>
          </a:prstGeom>
          <a:noFill/>
          <a:ln/>
        </p:spPr>
        <p:txBody>
          <a:bodyPr wrap="square" lIns="0" tIns="0" rIns="0" bIns="0" rtlCol="0" anchor="t"/>
          <a:lstStyle/>
          <a:p>
            <a:pPr algn="ctr" indent="0" marL="0">
              <a:lnSpc>
                <a:spcPct val="120000"/>
              </a:lnSpc>
              <a:buNone/>
            </a:pPr>
            <a:r>
              <a:rPr lang="en-US" sz="1000" dirty="0">
                <a:solidFill>
                  <a:srgbClr val="5B6B85"/>
                </a:solidFill>
                <a:latin typeface="Leelawadee UI" pitchFamily="34" charset="0"/>
                <a:ea typeface="Leelawadee UI" pitchFamily="34" charset="-122"/>
                <a:cs typeface="Leelawadee UI" pitchFamily="34" charset="-120"/>
              </a:rPr>
              <a:t>พิมพ์คำถามภาษาธรรมชาติในหน้าเว็บ</a:t>
            </a:r>
            <a:endParaRPr lang="en-US" sz="1000" dirty="0"/>
          </a:p>
        </p:txBody>
      </p:sp>
      <p:sp>
        <p:nvSpPr>
          <p:cNvPr id="8" name="Shape 5"/>
          <p:cNvSpPr/>
          <p:nvPr/>
        </p:nvSpPr>
        <p:spPr>
          <a:xfrm>
            <a:off x="2236165" y="3433572"/>
            <a:ext cx="164592" cy="219456"/>
          </a:xfrm>
          <a:prstGeom prst="chevron">
            <a:avLst/>
          </a:prstGeom>
          <a:solidFill>
            <a:srgbClr val="F5A524"/>
          </a:solidFill>
          <a:ln/>
        </p:spPr>
      </p:sp>
      <p:sp>
        <p:nvSpPr>
          <p:cNvPr id="9" name="Shape 6"/>
          <p:cNvSpPr/>
          <p:nvPr/>
        </p:nvSpPr>
        <p:spPr>
          <a:xfrm>
            <a:off x="2391613" y="1920240"/>
            <a:ext cx="1742389" cy="3246120"/>
          </a:xfrm>
          <a:prstGeom prst="roundRect">
            <a:avLst>
              <a:gd name="adj" fmla="val 5773"/>
            </a:avLst>
          </a:prstGeom>
          <a:solidFill>
            <a:srgbClr val="F4F6FA"/>
          </a:solidFill>
          <a:ln/>
        </p:spPr>
      </p:sp>
      <p:pic>
        <p:nvPicPr>
          <p:cNvPr id="10" name="Image 1" descr="/tmp/claude-0/-home-claude/031105a5-f49f-54fe-8ccb-acf4a5fade53/scratchpad/deck/assets/ic_llm.png">    </p:cNvPr>
          <p:cNvPicPr>
            <a:picLocks noChangeAspect="1"/>
          </p:cNvPicPr>
          <p:nvPr/>
        </p:nvPicPr>
        <p:blipFill>
          <a:blip r:embed="rId2"/>
          <a:stretch>
            <a:fillRect/>
          </a:stretch>
        </p:blipFill>
        <p:spPr>
          <a:xfrm>
            <a:off x="2933624" y="2176272"/>
            <a:ext cx="658368" cy="658368"/>
          </a:xfrm>
          <a:prstGeom prst="rect">
            <a:avLst/>
          </a:prstGeom>
          <a:effectLst>
            <a:outerShdw sx="100000" sy="100000" kx="0" ky="0" algn="bl" rotWithShape="0" blurRad="76200" dist="25400" dir="5400000">
              <a:srgbClr val="1B2A4A">
                <a:alpha val="28000"/>
              </a:srgbClr>
            </a:outerShdw>
          </a:effectLst>
        </p:spPr>
      </p:pic>
      <p:sp>
        <p:nvSpPr>
          <p:cNvPr id="11" name="Text 7"/>
          <p:cNvSpPr txBox="1"/>
          <p:nvPr/>
        </p:nvSpPr>
        <p:spPr>
          <a:xfrm>
            <a:off x="2519629" y="3017520"/>
            <a:ext cx="1486357" cy="594360"/>
          </a:xfrm>
          <a:prstGeom prst="rect">
            <a:avLst/>
          </a:prstGeom>
          <a:noFill/>
          <a:ln/>
        </p:spPr>
        <p:txBody>
          <a:bodyPr wrap="square" lIns="0" tIns="0" rIns="0" bIns="0" rtlCol="0" anchor="ctr"/>
          <a:lstStyle/>
          <a:p>
            <a:pPr algn="ctr" indent="0" marL="0">
              <a:lnSpc>
                <a:spcPct val="108000"/>
              </a:lnSpc>
              <a:buNone/>
            </a:pPr>
            <a:r>
              <a:rPr lang="en-US" sz="1200" b="1" dirty="0">
                <a:solidFill>
                  <a:srgbClr val="0F1B33"/>
                </a:solidFill>
                <a:latin typeface="Leelawadee UI" pitchFamily="34" charset="0"/>
                <a:ea typeface="Leelawadee UI" pitchFamily="34" charset="-122"/>
                <a:cs typeface="Leelawadee UI" pitchFamily="34" charset="-120"/>
              </a:rPr>
              <a:t>2. LLM สร้าง SPARQL</a:t>
            </a:r>
            <a:endParaRPr lang="en-US" sz="1200" dirty="0"/>
          </a:p>
        </p:txBody>
      </p:sp>
      <p:sp>
        <p:nvSpPr>
          <p:cNvPr id="12" name="Text 8"/>
          <p:cNvSpPr txBox="1"/>
          <p:nvPr/>
        </p:nvSpPr>
        <p:spPr>
          <a:xfrm>
            <a:off x="2537917" y="3703320"/>
            <a:ext cx="1449781" cy="1280160"/>
          </a:xfrm>
          <a:prstGeom prst="rect">
            <a:avLst/>
          </a:prstGeom>
          <a:noFill/>
          <a:ln/>
        </p:spPr>
        <p:txBody>
          <a:bodyPr wrap="square" lIns="0" tIns="0" rIns="0" bIns="0" rtlCol="0" anchor="t"/>
          <a:lstStyle/>
          <a:p>
            <a:pPr algn="ctr" indent="0" marL="0">
              <a:lnSpc>
                <a:spcPct val="120000"/>
              </a:lnSpc>
              <a:buNone/>
            </a:pPr>
            <a:r>
              <a:rPr lang="en-US" sz="1000" dirty="0">
                <a:solidFill>
                  <a:srgbClr val="5B6B85"/>
                </a:solidFill>
                <a:latin typeface="Leelawadee UI" pitchFamily="34" charset="0"/>
                <a:ea typeface="Leelawadee UI" pitchFamily="34" charset="-122"/>
                <a:cs typeface="Leelawadee UI" pitchFamily="34" charset="-120"/>
              </a:rPr>
              <a:t>Ollama แปลงคำถามเป็น query ร่าง</a:t>
            </a:r>
            <a:endParaRPr lang="en-US" sz="1000" dirty="0"/>
          </a:p>
        </p:txBody>
      </p:sp>
      <p:sp>
        <p:nvSpPr>
          <p:cNvPr id="13" name="Shape 9"/>
          <p:cNvSpPr/>
          <p:nvPr/>
        </p:nvSpPr>
        <p:spPr>
          <a:xfrm>
            <a:off x="4124858" y="3433572"/>
            <a:ext cx="164592" cy="219456"/>
          </a:xfrm>
          <a:prstGeom prst="chevron">
            <a:avLst/>
          </a:prstGeom>
          <a:solidFill>
            <a:srgbClr val="F5A524"/>
          </a:solidFill>
          <a:ln/>
        </p:spPr>
      </p:sp>
      <p:sp>
        <p:nvSpPr>
          <p:cNvPr id="14" name="Shape 10"/>
          <p:cNvSpPr/>
          <p:nvPr/>
        </p:nvSpPr>
        <p:spPr>
          <a:xfrm>
            <a:off x="4280306" y="1920240"/>
            <a:ext cx="1742389" cy="3246120"/>
          </a:xfrm>
          <a:prstGeom prst="roundRect">
            <a:avLst>
              <a:gd name="adj" fmla="val 5773"/>
            </a:avLst>
          </a:prstGeom>
          <a:solidFill>
            <a:srgbClr val="F4F6FA"/>
          </a:solidFill>
          <a:ln/>
        </p:spPr>
      </p:sp>
      <p:pic>
        <p:nvPicPr>
          <p:cNvPr id="15" name="Image 2" descr="/tmp/claude-0/-home-claude/031105a5-f49f-54fe-8ccb-acf4a5fade53/scratchpad/deck/assets/ic_validate.png">    </p:cNvPr>
          <p:cNvPicPr>
            <a:picLocks noChangeAspect="1"/>
          </p:cNvPicPr>
          <p:nvPr/>
        </p:nvPicPr>
        <p:blipFill>
          <a:blip r:embed="rId3"/>
          <a:stretch>
            <a:fillRect/>
          </a:stretch>
        </p:blipFill>
        <p:spPr>
          <a:xfrm>
            <a:off x="4822317" y="2176272"/>
            <a:ext cx="658368" cy="658368"/>
          </a:xfrm>
          <a:prstGeom prst="rect">
            <a:avLst/>
          </a:prstGeom>
          <a:effectLst>
            <a:outerShdw sx="100000" sy="100000" kx="0" ky="0" algn="bl" rotWithShape="0" blurRad="76200" dist="25400" dir="5400000">
              <a:srgbClr val="1B2A4A">
                <a:alpha val="28000"/>
              </a:srgbClr>
            </a:outerShdw>
          </a:effectLst>
        </p:spPr>
      </p:pic>
      <p:sp>
        <p:nvSpPr>
          <p:cNvPr id="16" name="Text 11"/>
          <p:cNvSpPr txBox="1"/>
          <p:nvPr/>
        </p:nvSpPr>
        <p:spPr>
          <a:xfrm>
            <a:off x="4408322" y="3017520"/>
            <a:ext cx="1486357" cy="594360"/>
          </a:xfrm>
          <a:prstGeom prst="rect">
            <a:avLst/>
          </a:prstGeom>
          <a:noFill/>
          <a:ln/>
        </p:spPr>
        <p:txBody>
          <a:bodyPr wrap="square" lIns="0" tIns="0" rIns="0" bIns="0" rtlCol="0" anchor="ctr"/>
          <a:lstStyle/>
          <a:p>
            <a:pPr algn="ctr" indent="0" marL="0">
              <a:lnSpc>
                <a:spcPct val="108000"/>
              </a:lnSpc>
              <a:buNone/>
            </a:pPr>
            <a:r>
              <a:rPr lang="en-US" sz="1200" b="1" dirty="0">
                <a:solidFill>
                  <a:srgbClr val="0F1B33"/>
                </a:solidFill>
                <a:latin typeface="Leelawadee UI" pitchFamily="34" charset="0"/>
                <a:ea typeface="Leelawadee UI" pitchFamily="34" charset="-122"/>
                <a:cs typeface="Leelawadee UI" pitchFamily="34" charset="-120"/>
              </a:rPr>
              <a:t>3. ตรวจสอบ Query</a:t>
            </a:r>
            <a:endParaRPr lang="en-US" sz="1200" dirty="0"/>
          </a:p>
        </p:txBody>
      </p:sp>
      <p:sp>
        <p:nvSpPr>
          <p:cNvPr id="17" name="Text 12"/>
          <p:cNvSpPr txBox="1"/>
          <p:nvPr/>
        </p:nvSpPr>
        <p:spPr>
          <a:xfrm>
            <a:off x="4426610" y="3703320"/>
            <a:ext cx="1449781" cy="1280160"/>
          </a:xfrm>
          <a:prstGeom prst="rect">
            <a:avLst/>
          </a:prstGeom>
          <a:noFill/>
          <a:ln/>
        </p:spPr>
        <p:txBody>
          <a:bodyPr wrap="square" lIns="0" tIns="0" rIns="0" bIns="0" rtlCol="0" anchor="t"/>
          <a:lstStyle/>
          <a:p>
            <a:pPr algn="ctr" indent="0" marL="0">
              <a:lnSpc>
                <a:spcPct val="120000"/>
              </a:lnSpc>
              <a:buNone/>
            </a:pPr>
            <a:r>
              <a:rPr lang="en-US" sz="1000" dirty="0">
                <a:solidFill>
                  <a:srgbClr val="5B6B85"/>
                </a:solidFill>
                <a:latin typeface="Leelawadee UI" pitchFamily="34" charset="0"/>
                <a:ea typeface="Leelawadee UI" pitchFamily="34" charset="-122"/>
                <a:cs typeface="Leelawadee UI" pitchFamily="34" charset="-120"/>
              </a:rPr>
              <a:t>อนุญาตเฉพาะ SELECT + vocabulary ที่กำหนด</a:t>
            </a:r>
            <a:endParaRPr lang="en-US" sz="1000" dirty="0"/>
          </a:p>
        </p:txBody>
      </p:sp>
      <p:sp>
        <p:nvSpPr>
          <p:cNvPr id="18" name="Shape 13"/>
          <p:cNvSpPr/>
          <p:nvPr/>
        </p:nvSpPr>
        <p:spPr>
          <a:xfrm>
            <a:off x="6013552" y="3433572"/>
            <a:ext cx="164592" cy="219456"/>
          </a:xfrm>
          <a:prstGeom prst="chevron">
            <a:avLst/>
          </a:prstGeom>
          <a:solidFill>
            <a:srgbClr val="F5A524"/>
          </a:solidFill>
          <a:ln/>
        </p:spPr>
      </p:sp>
      <p:sp>
        <p:nvSpPr>
          <p:cNvPr id="19" name="Shape 14"/>
          <p:cNvSpPr/>
          <p:nvPr/>
        </p:nvSpPr>
        <p:spPr>
          <a:xfrm>
            <a:off x="6169000" y="1920240"/>
            <a:ext cx="1742389" cy="3246120"/>
          </a:xfrm>
          <a:prstGeom prst="roundRect">
            <a:avLst>
              <a:gd name="adj" fmla="val 5773"/>
            </a:avLst>
          </a:prstGeom>
          <a:solidFill>
            <a:srgbClr val="F4F6FA"/>
          </a:solidFill>
          <a:ln/>
        </p:spPr>
      </p:sp>
      <p:pic>
        <p:nvPicPr>
          <p:cNvPr id="20" name="Image 3" descr="/tmp/claude-0/-home-claude/031105a5-f49f-54fe-8ccb-acf4a5fade53/scratchpad/deck/assets/ic_db.png">    </p:cNvPr>
          <p:cNvPicPr>
            <a:picLocks noChangeAspect="1"/>
          </p:cNvPicPr>
          <p:nvPr/>
        </p:nvPicPr>
        <p:blipFill>
          <a:blip r:embed="rId4"/>
          <a:stretch>
            <a:fillRect/>
          </a:stretch>
        </p:blipFill>
        <p:spPr>
          <a:xfrm>
            <a:off x="6711010" y="2176272"/>
            <a:ext cx="658368" cy="658368"/>
          </a:xfrm>
          <a:prstGeom prst="rect">
            <a:avLst/>
          </a:prstGeom>
          <a:effectLst>
            <a:outerShdw sx="100000" sy="100000" kx="0" ky="0" algn="bl" rotWithShape="0" blurRad="76200" dist="25400" dir="5400000">
              <a:srgbClr val="1B2A4A">
                <a:alpha val="28000"/>
              </a:srgbClr>
            </a:outerShdw>
          </a:effectLst>
        </p:spPr>
      </p:pic>
      <p:sp>
        <p:nvSpPr>
          <p:cNvPr id="21" name="Text 15"/>
          <p:cNvSpPr txBox="1"/>
          <p:nvPr/>
        </p:nvSpPr>
        <p:spPr>
          <a:xfrm>
            <a:off x="6297016" y="3017520"/>
            <a:ext cx="1486357" cy="594360"/>
          </a:xfrm>
          <a:prstGeom prst="rect">
            <a:avLst/>
          </a:prstGeom>
          <a:noFill/>
          <a:ln/>
        </p:spPr>
        <p:txBody>
          <a:bodyPr wrap="square" lIns="0" tIns="0" rIns="0" bIns="0" rtlCol="0" anchor="ctr"/>
          <a:lstStyle/>
          <a:p>
            <a:pPr algn="ctr" indent="0" marL="0">
              <a:lnSpc>
                <a:spcPct val="108000"/>
              </a:lnSpc>
              <a:buNone/>
            </a:pPr>
            <a:r>
              <a:rPr lang="en-US" sz="1200" b="1" dirty="0">
                <a:solidFill>
                  <a:srgbClr val="0F1B33"/>
                </a:solidFill>
                <a:latin typeface="Leelawadee UI" pitchFamily="34" charset="0"/>
                <a:ea typeface="Leelawadee UI" pitchFamily="34" charset="-122"/>
                <a:cs typeface="Leelawadee UI" pitchFamily="34" charset="-120"/>
              </a:rPr>
              <a:t>4. Query Fuseki</a:t>
            </a:r>
            <a:endParaRPr lang="en-US" sz="1200" dirty="0"/>
          </a:p>
        </p:txBody>
      </p:sp>
      <p:sp>
        <p:nvSpPr>
          <p:cNvPr id="22" name="Text 16"/>
          <p:cNvSpPr txBox="1"/>
          <p:nvPr/>
        </p:nvSpPr>
        <p:spPr>
          <a:xfrm>
            <a:off x="6315304" y="3703320"/>
            <a:ext cx="1449781" cy="1280160"/>
          </a:xfrm>
          <a:prstGeom prst="rect">
            <a:avLst/>
          </a:prstGeom>
          <a:noFill/>
          <a:ln/>
        </p:spPr>
        <p:txBody>
          <a:bodyPr wrap="square" lIns="0" tIns="0" rIns="0" bIns="0" rtlCol="0" anchor="t"/>
          <a:lstStyle/>
          <a:p>
            <a:pPr algn="ctr" indent="0" marL="0">
              <a:lnSpc>
                <a:spcPct val="120000"/>
              </a:lnSpc>
              <a:buNone/>
            </a:pPr>
            <a:r>
              <a:rPr lang="en-US" sz="1000" dirty="0">
                <a:solidFill>
                  <a:srgbClr val="5B6B85"/>
                </a:solidFill>
                <a:latin typeface="Leelawadee UI" pitchFamily="34" charset="0"/>
                <a:ea typeface="Leelawadee UI" pitchFamily="34" charset="-122"/>
                <a:cs typeface="Leelawadee UI" pitchFamily="34" charset="-120"/>
              </a:rPr>
              <a:t>ยิง query ที่ผ่านตรวจไปยัง Knowledge Graph</a:t>
            </a:r>
            <a:endParaRPr lang="en-US" sz="1000" dirty="0"/>
          </a:p>
        </p:txBody>
      </p:sp>
      <p:sp>
        <p:nvSpPr>
          <p:cNvPr id="23" name="Shape 17"/>
          <p:cNvSpPr/>
          <p:nvPr/>
        </p:nvSpPr>
        <p:spPr>
          <a:xfrm>
            <a:off x="7902245" y="3433572"/>
            <a:ext cx="164592" cy="219456"/>
          </a:xfrm>
          <a:prstGeom prst="chevron">
            <a:avLst/>
          </a:prstGeom>
          <a:solidFill>
            <a:srgbClr val="F5A524"/>
          </a:solidFill>
          <a:ln/>
        </p:spPr>
      </p:sp>
      <p:sp>
        <p:nvSpPr>
          <p:cNvPr id="24" name="Shape 18"/>
          <p:cNvSpPr/>
          <p:nvPr/>
        </p:nvSpPr>
        <p:spPr>
          <a:xfrm>
            <a:off x="8057693" y="1920240"/>
            <a:ext cx="1742389" cy="3246120"/>
          </a:xfrm>
          <a:prstGeom prst="roundRect">
            <a:avLst>
              <a:gd name="adj" fmla="val 5773"/>
            </a:avLst>
          </a:prstGeom>
          <a:solidFill>
            <a:srgbClr val="F4F6FA"/>
          </a:solidFill>
          <a:ln/>
        </p:spPr>
      </p:sp>
      <p:pic>
        <p:nvPicPr>
          <p:cNvPr id="25" name="Image 4" descr="/tmp/claude-0/-home-claude/031105a5-f49f-54fe-8ccb-acf4a5fade53/scratchpad/deck/assets/ic_share.png">    </p:cNvPr>
          <p:cNvPicPr>
            <a:picLocks noChangeAspect="1"/>
          </p:cNvPicPr>
          <p:nvPr/>
        </p:nvPicPr>
        <p:blipFill>
          <a:blip r:embed="rId5"/>
          <a:stretch>
            <a:fillRect/>
          </a:stretch>
        </p:blipFill>
        <p:spPr>
          <a:xfrm>
            <a:off x="8599703" y="2176272"/>
            <a:ext cx="658368" cy="658368"/>
          </a:xfrm>
          <a:prstGeom prst="rect">
            <a:avLst/>
          </a:prstGeom>
          <a:effectLst>
            <a:outerShdw sx="100000" sy="100000" kx="0" ky="0" algn="bl" rotWithShape="0" blurRad="76200" dist="25400" dir="5400000">
              <a:srgbClr val="1B2A4A">
                <a:alpha val="28000"/>
              </a:srgbClr>
            </a:outerShdw>
          </a:effectLst>
        </p:spPr>
      </p:pic>
      <p:sp>
        <p:nvSpPr>
          <p:cNvPr id="26" name="Text 19"/>
          <p:cNvSpPr txBox="1"/>
          <p:nvPr/>
        </p:nvSpPr>
        <p:spPr>
          <a:xfrm>
            <a:off x="8185709" y="3017520"/>
            <a:ext cx="1486357" cy="594360"/>
          </a:xfrm>
          <a:prstGeom prst="rect">
            <a:avLst/>
          </a:prstGeom>
          <a:noFill/>
          <a:ln/>
        </p:spPr>
        <p:txBody>
          <a:bodyPr wrap="square" lIns="0" tIns="0" rIns="0" bIns="0" rtlCol="0" anchor="ctr"/>
          <a:lstStyle/>
          <a:p>
            <a:pPr algn="ctr" indent="0" marL="0">
              <a:lnSpc>
                <a:spcPct val="108000"/>
              </a:lnSpc>
              <a:buNone/>
            </a:pPr>
            <a:r>
              <a:rPr lang="en-US" sz="1200" b="1" dirty="0">
                <a:solidFill>
                  <a:srgbClr val="0F1B33"/>
                </a:solidFill>
                <a:latin typeface="Leelawadee UI" pitchFamily="34" charset="0"/>
                <a:ea typeface="Leelawadee UI" pitchFamily="34" charset="-122"/>
                <a:cs typeface="Leelawadee UI" pitchFamily="34" charset="-120"/>
              </a:rPr>
              <a:t>5. LLM สรุปผล</a:t>
            </a:r>
            <a:endParaRPr lang="en-US" sz="1200" dirty="0"/>
          </a:p>
        </p:txBody>
      </p:sp>
      <p:sp>
        <p:nvSpPr>
          <p:cNvPr id="27" name="Text 20"/>
          <p:cNvSpPr txBox="1"/>
          <p:nvPr/>
        </p:nvSpPr>
        <p:spPr>
          <a:xfrm>
            <a:off x="8203997" y="3703320"/>
            <a:ext cx="1449781" cy="1280160"/>
          </a:xfrm>
          <a:prstGeom prst="rect">
            <a:avLst/>
          </a:prstGeom>
          <a:noFill/>
          <a:ln/>
        </p:spPr>
        <p:txBody>
          <a:bodyPr wrap="square" lIns="0" tIns="0" rIns="0" bIns="0" rtlCol="0" anchor="t"/>
          <a:lstStyle/>
          <a:p>
            <a:pPr algn="ctr" indent="0" marL="0">
              <a:lnSpc>
                <a:spcPct val="120000"/>
              </a:lnSpc>
              <a:buNone/>
            </a:pPr>
            <a:r>
              <a:rPr lang="en-US" sz="1000" dirty="0">
                <a:solidFill>
                  <a:srgbClr val="5B6B85"/>
                </a:solidFill>
                <a:latin typeface="Leelawadee UI" pitchFamily="34" charset="0"/>
                <a:ea typeface="Leelawadee UI" pitchFamily="34" charset="-122"/>
                <a:cs typeface="Leelawadee UI" pitchFamily="34" charset="-120"/>
              </a:rPr>
              <a:t>Ollama เขียนคำตอบจากผลลัพธ์ที่ verified แล้ว</a:t>
            </a:r>
            <a:endParaRPr lang="en-US" sz="1000" dirty="0"/>
          </a:p>
        </p:txBody>
      </p:sp>
      <p:sp>
        <p:nvSpPr>
          <p:cNvPr id="28" name="Shape 21"/>
          <p:cNvSpPr/>
          <p:nvPr/>
        </p:nvSpPr>
        <p:spPr>
          <a:xfrm>
            <a:off x="9790938" y="3433572"/>
            <a:ext cx="164592" cy="219456"/>
          </a:xfrm>
          <a:prstGeom prst="chevron">
            <a:avLst/>
          </a:prstGeom>
          <a:solidFill>
            <a:srgbClr val="F5A524"/>
          </a:solidFill>
          <a:ln/>
        </p:spPr>
      </p:sp>
      <p:sp>
        <p:nvSpPr>
          <p:cNvPr id="29" name="Shape 22"/>
          <p:cNvSpPr/>
          <p:nvPr/>
        </p:nvSpPr>
        <p:spPr>
          <a:xfrm>
            <a:off x="9946386" y="1920240"/>
            <a:ext cx="1742389" cy="3246120"/>
          </a:xfrm>
          <a:prstGeom prst="roundRect">
            <a:avLst>
              <a:gd name="adj" fmla="val 5773"/>
            </a:avLst>
          </a:prstGeom>
          <a:solidFill>
            <a:srgbClr val="F4F6FA"/>
          </a:solidFill>
          <a:ln/>
        </p:spPr>
      </p:sp>
      <p:pic>
        <p:nvPicPr>
          <p:cNvPr id="30" name="Image 5" descr="/tmp/claude-0/-home-claude/031105a5-f49f-54fe-8ccb-acf4a5fade53/scratchpad/deck/assets/ic_answer.png">    </p:cNvPr>
          <p:cNvPicPr>
            <a:picLocks noChangeAspect="1"/>
          </p:cNvPicPr>
          <p:nvPr/>
        </p:nvPicPr>
        <p:blipFill>
          <a:blip r:embed="rId6"/>
          <a:stretch>
            <a:fillRect/>
          </a:stretch>
        </p:blipFill>
        <p:spPr>
          <a:xfrm>
            <a:off x="10488397" y="2176272"/>
            <a:ext cx="658368" cy="658368"/>
          </a:xfrm>
          <a:prstGeom prst="rect">
            <a:avLst/>
          </a:prstGeom>
          <a:effectLst>
            <a:outerShdw sx="100000" sy="100000" kx="0" ky="0" algn="bl" rotWithShape="0" blurRad="76200" dist="25400" dir="5400000">
              <a:srgbClr val="1B2A4A">
                <a:alpha val="28000"/>
              </a:srgbClr>
            </a:outerShdw>
          </a:effectLst>
        </p:spPr>
      </p:pic>
      <p:sp>
        <p:nvSpPr>
          <p:cNvPr id="31" name="Text 23"/>
          <p:cNvSpPr txBox="1"/>
          <p:nvPr/>
        </p:nvSpPr>
        <p:spPr>
          <a:xfrm>
            <a:off x="10074402" y="3017520"/>
            <a:ext cx="1486357" cy="594360"/>
          </a:xfrm>
          <a:prstGeom prst="rect">
            <a:avLst/>
          </a:prstGeom>
          <a:noFill/>
          <a:ln/>
        </p:spPr>
        <p:txBody>
          <a:bodyPr wrap="square" lIns="0" tIns="0" rIns="0" bIns="0" rtlCol="0" anchor="ctr"/>
          <a:lstStyle/>
          <a:p>
            <a:pPr algn="ctr" indent="0" marL="0">
              <a:lnSpc>
                <a:spcPct val="108000"/>
              </a:lnSpc>
              <a:buNone/>
            </a:pPr>
            <a:r>
              <a:rPr lang="en-US" sz="1200" b="1" dirty="0">
                <a:solidFill>
                  <a:srgbClr val="0F1B33"/>
                </a:solidFill>
                <a:latin typeface="Leelawadee UI" pitchFamily="34" charset="0"/>
                <a:ea typeface="Leelawadee UI" pitchFamily="34" charset="-122"/>
                <a:cs typeface="Leelawadee UI" pitchFamily="34" charset="-120"/>
              </a:rPr>
              <a:t>6. ตอบกลับ + หลักฐาน</a:t>
            </a:r>
            <a:endParaRPr lang="en-US" sz="1200" dirty="0"/>
          </a:p>
        </p:txBody>
      </p:sp>
      <p:sp>
        <p:nvSpPr>
          <p:cNvPr id="32" name="Text 24"/>
          <p:cNvSpPr txBox="1"/>
          <p:nvPr/>
        </p:nvSpPr>
        <p:spPr>
          <a:xfrm>
            <a:off x="10092690" y="3703320"/>
            <a:ext cx="1449781" cy="1280160"/>
          </a:xfrm>
          <a:prstGeom prst="rect">
            <a:avLst/>
          </a:prstGeom>
          <a:noFill/>
          <a:ln/>
        </p:spPr>
        <p:txBody>
          <a:bodyPr wrap="square" lIns="0" tIns="0" rIns="0" bIns="0" rtlCol="0" anchor="t"/>
          <a:lstStyle/>
          <a:p>
            <a:pPr algn="ctr" indent="0" marL="0">
              <a:lnSpc>
                <a:spcPct val="120000"/>
              </a:lnSpc>
              <a:buNone/>
            </a:pPr>
            <a:r>
              <a:rPr lang="en-US" sz="1000" dirty="0">
                <a:solidFill>
                  <a:srgbClr val="5B6B85"/>
                </a:solidFill>
                <a:latin typeface="Leelawadee UI" pitchFamily="34" charset="0"/>
                <a:ea typeface="Leelawadee UI" pitchFamily="34" charset="-122"/>
                <a:cs typeface="Leelawadee UI" pitchFamily="34" charset="-120"/>
              </a:rPr>
              <a:t>แสดงคำตอบพร้อม Evidence และ SPARQL ที่ใช้จริง</a:t>
            </a:r>
            <a:endParaRPr lang="en-US" sz="1000" dirty="0"/>
          </a:p>
        </p:txBody>
      </p:sp>
      <p:sp>
        <p:nvSpPr>
          <p:cNvPr id="33" name="Text 25"/>
          <p:cNvSpPr txBox="1"/>
          <p:nvPr/>
        </p:nvSpPr>
        <p:spPr>
          <a:xfrm>
            <a:off x="502920" y="5440680"/>
            <a:ext cx="11155680" cy="457200"/>
          </a:xfrm>
          <a:prstGeom prst="rect">
            <a:avLst/>
          </a:prstGeom>
          <a:noFill/>
          <a:ln/>
        </p:spPr>
        <p:txBody>
          <a:bodyPr wrap="square" lIns="0" tIns="0" rIns="0" bIns="0" rtlCol="0" anchor="ctr"/>
          <a:lstStyle/>
          <a:p>
            <a:pPr algn="ctr" indent="0" marL="0">
              <a:buNone/>
            </a:pPr>
            <a:r>
              <a:rPr lang="en-US" sz="1250" i="1" dirty="0">
                <a:solidFill>
                  <a:srgbClr val="5B6B85"/>
                </a:solidFill>
                <a:latin typeface="Leelawadee UI" pitchFamily="34" charset="0"/>
                <a:ea typeface="Leelawadee UI" pitchFamily="34" charset="-122"/>
                <a:cs typeface="Leelawadee UI" pitchFamily="34" charset="-120"/>
              </a:rPr>
              <a:t>หนึ่งคำถามเดินผ่านไปป์ไลน์นี้ทั้งหมดทุกครั้ง — ไม่มีการข้ามขั้นตอนตรวจสอบ และไม่มีคำตอบใดที่มาจาก LLM ล้วน ๆ โดยไม่มีหลักฐานจาก Knowledge Graph</a:t>
            </a:r>
            <a:endParaRPr lang="en-US" sz="1250" dirty="0"/>
          </a:p>
        </p:txBody>
      </p:sp>
      <p:sp>
        <p:nvSpPr>
          <p:cNvPr id="35" name="Text 26"/>
          <p:cNvSpPr txBox="1"/>
          <p:nvPr/>
        </p:nvSpPr>
        <p:spPr>
          <a:xfrm>
            <a:off x="502920" y="6473952"/>
            <a:ext cx="7315200" cy="274320"/>
          </a:xfrm>
          <a:prstGeom prst="rect">
            <a:avLst/>
          </a:prstGeom>
          <a:noFill/>
          <a:ln/>
        </p:spPr>
        <p:txBody>
          <a:bodyPr wrap="square" lIns="0" tIns="0" rIns="0" bIns="0" rtlCol="0" anchor="ctr"/>
          <a:lstStyle/>
          <a:p>
            <a:pPr algn="l" indent="0" marL="0">
              <a:buNone/>
            </a:pPr>
            <a:r>
              <a:rPr lang="en-US" sz="1000" dirty="0">
                <a:solidFill>
                  <a:srgbClr val="5B6B85"/>
                </a:solidFill>
                <a:latin typeface="Leelawadee UI" pitchFamily="34" charset="0"/>
                <a:ea typeface="Leelawadee UI" pitchFamily="34" charset="-122"/>
                <a:cs typeface="Leelawadee UI" pitchFamily="34" charset="-120"/>
              </a:rPr>
              <a:t>GraphMind — Tech Stack &amp; Concept</a:t>
            </a:r>
            <a:endParaRPr lang="en-US" sz="1000" dirty="0"/>
          </a:p>
        </p:txBody>
      </p:sp>
      <p:sp>
        <p:nvSpPr>
          <p:cNvPr id="36" name="Text 27"/>
          <p:cNvSpPr txBox="1"/>
          <p:nvPr/>
        </p:nvSpPr>
        <p:spPr>
          <a:xfrm>
            <a:off x="11140135" y="6473952"/>
            <a:ext cx="548640" cy="274320"/>
          </a:xfrm>
          <a:prstGeom prst="rect">
            <a:avLst/>
          </a:prstGeom>
          <a:noFill/>
          <a:ln/>
        </p:spPr>
        <p:txBody>
          <a:bodyPr wrap="square" lIns="0" tIns="0" rIns="0" bIns="0" rtlCol="0" anchor="ctr"/>
          <a:lstStyle/>
          <a:p>
            <a:pPr algn="r" indent="0" marL="0">
              <a:buNone/>
            </a:pPr>
            <a:r>
              <a:rPr lang="en-US" sz="1000" dirty="0">
                <a:solidFill>
                  <a:srgbClr val="5B6B85"/>
                </a:solidFill>
                <a:latin typeface="Leelawadee UI" pitchFamily="34" charset="0"/>
                <a:ea typeface="Leelawadee UI" pitchFamily="34" charset="-122"/>
                <a:cs typeface="Leelawadee U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33"/>
        </a:solidFill>
      </p:bgPr>
    </p:bg>
    <p:spTree>
      <p:nvGrpSpPr>
        <p:cNvPr id="1" name=""/>
        <p:cNvGrpSpPr/>
        <p:nvPr/>
      </p:nvGrpSpPr>
      <p:grpSpPr>
        <a:xfrm>
          <a:off x="0" y="0"/>
          <a:ext cx="0" cy="0"/>
          <a:chOff x="0" y="0"/>
          <a:chExt cx="0" cy="0"/>
        </a:xfrm>
      </p:grpSpPr>
      <p:sp>
        <p:nvSpPr>
          <p:cNvPr id="2" name="Shape 0"/>
          <p:cNvSpPr/>
          <p:nvPr/>
        </p:nvSpPr>
        <p:spPr>
          <a:xfrm flipV="1">
            <a:off x="8869680" y="45720"/>
            <a:ext cx="321869" cy="87782"/>
          </a:xfrm>
          <a:prstGeom prst="line">
            <a:avLst/>
          </a:prstGeom>
          <a:noFill/>
          <a:ln w="12700">
            <a:solidFill>
              <a:srgbClr val="223252">
                <a:alpha val="65000"/>
              </a:srgbClr>
            </a:solidFill>
            <a:prstDash val="solid"/>
          </a:ln>
        </p:spPr>
      </p:sp>
      <p:sp>
        <p:nvSpPr>
          <p:cNvPr id="3" name="Shape 1"/>
          <p:cNvSpPr/>
          <p:nvPr/>
        </p:nvSpPr>
        <p:spPr>
          <a:xfrm>
            <a:off x="9191549" y="45720"/>
            <a:ext cx="351130" cy="175565"/>
          </a:xfrm>
          <a:prstGeom prst="line">
            <a:avLst/>
          </a:prstGeom>
          <a:noFill/>
          <a:ln w="12700">
            <a:solidFill>
              <a:srgbClr val="223252">
                <a:alpha val="65000"/>
              </a:srgbClr>
            </a:solidFill>
            <a:prstDash val="solid"/>
          </a:ln>
        </p:spPr>
      </p:sp>
      <p:sp>
        <p:nvSpPr>
          <p:cNvPr id="4" name="Shape 2"/>
          <p:cNvSpPr/>
          <p:nvPr/>
        </p:nvSpPr>
        <p:spPr>
          <a:xfrm flipV="1">
            <a:off x="9542678" y="74981"/>
            <a:ext cx="292608" cy="146304"/>
          </a:xfrm>
          <a:prstGeom prst="line">
            <a:avLst/>
          </a:prstGeom>
          <a:noFill/>
          <a:ln w="12700">
            <a:solidFill>
              <a:srgbClr val="223252">
                <a:alpha val="65000"/>
              </a:srgbClr>
            </a:solidFill>
            <a:prstDash val="solid"/>
          </a:ln>
        </p:spPr>
      </p:sp>
      <p:sp>
        <p:nvSpPr>
          <p:cNvPr id="5" name="Shape 3"/>
          <p:cNvSpPr/>
          <p:nvPr/>
        </p:nvSpPr>
        <p:spPr>
          <a:xfrm flipH="1">
            <a:off x="8752637" y="133502"/>
            <a:ext cx="117043" cy="380390"/>
          </a:xfrm>
          <a:prstGeom prst="line">
            <a:avLst/>
          </a:prstGeom>
          <a:noFill/>
          <a:ln w="12700">
            <a:solidFill>
              <a:srgbClr val="223252">
                <a:alpha val="65000"/>
              </a:srgbClr>
            </a:solidFill>
            <a:prstDash val="solid"/>
          </a:ln>
        </p:spPr>
      </p:sp>
      <p:sp>
        <p:nvSpPr>
          <p:cNvPr id="6" name="Shape 4"/>
          <p:cNvSpPr/>
          <p:nvPr/>
        </p:nvSpPr>
        <p:spPr>
          <a:xfrm flipH="1">
            <a:off x="9103766" y="45720"/>
            <a:ext cx="87782" cy="380390"/>
          </a:xfrm>
          <a:prstGeom prst="line">
            <a:avLst/>
          </a:prstGeom>
          <a:noFill/>
          <a:ln w="12700">
            <a:solidFill>
              <a:srgbClr val="223252">
                <a:alpha val="65000"/>
              </a:srgbClr>
            </a:solidFill>
            <a:prstDash val="solid"/>
          </a:ln>
        </p:spPr>
      </p:sp>
      <p:sp>
        <p:nvSpPr>
          <p:cNvPr id="7" name="Shape 5"/>
          <p:cNvSpPr/>
          <p:nvPr/>
        </p:nvSpPr>
        <p:spPr>
          <a:xfrm flipH="1">
            <a:off x="9454896" y="221285"/>
            <a:ext cx="87782" cy="380390"/>
          </a:xfrm>
          <a:prstGeom prst="line">
            <a:avLst/>
          </a:prstGeom>
          <a:noFill/>
          <a:ln w="12700">
            <a:solidFill>
              <a:srgbClr val="223252">
                <a:alpha val="65000"/>
              </a:srgbClr>
            </a:solidFill>
            <a:prstDash val="solid"/>
          </a:ln>
        </p:spPr>
      </p:sp>
      <p:sp>
        <p:nvSpPr>
          <p:cNvPr id="8" name="Shape 6"/>
          <p:cNvSpPr/>
          <p:nvPr/>
        </p:nvSpPr>
        <p:spPr>
          <a:xfrm>
            <a:off x="9835286" y="74981"/>
            <a:ext cx="29261" cy="380390"/>
          </a:xfrm>
          <a:prstGeom prst="line">
            <a:avLst/>
          </a:prstGeom>
          <a:noFill/>
          <a:ln w="12700">
            <a:solidFill>
              <a:srgbClr val="223252">
                <a:alpha val="65000"/>
              </a:srgbClr>
            </a:solidFill>
            <a:prstDash val="solid"/>
          </a:ln>
        </p:spPr>
      </p:sp>
      <p:sp>
        <p:nvSpPr>
          <p:cNvPr id="9" name="Shape 7"/>
          <p:cNvSpPr/>
          <p:nvPr/>
        </p:nvSpPr>
        <p:spPr>
          <a:xfrm flipV="1">
            <a:off x="8752637" y="426110"/>
            <a:ext cx="351130" cy="87782"/>
          </a:xfrm>
          <a:prstGeom prst="line">
            <a:avLst/>
          </a:prstGeom>
          <a:noFill/>
          <a:ln w="12700">
            <a:solidFill>
              <a:srgbClr val="223252">
                <a:alpha val="65000"/>
              </a:srgbClr>
            </a:solidFill>
            <a:prstDash val="solid"/>
          </a:ln>
        </p:spPr>
      </p:sp>
      <p:sp>
        <p:nvSpPr>
          <p:cNvPr id="10" name="Shape 8"/>
          <p:cNvSpPr/>
          <p:nvPr/>
        </p:nvSpPr>
        <p:spPr>
          <a:xfrm>
            <a:off x="9103766" y="426110"/>
            <a:ext cx="351130" cy="175565"/>
          </a:xfrm>
          <a:prstGeom prst="line">
            <a:avLst/>
          </a:prstGeom>
          <a:noFill/>
          <a:ln w="12700">
            <a:solidFill>
              <a:srgbClr val="223252">
                <a:alpha val="65000"/>
              </a:srgbClr>
            </a:solidFill>
            <a:prstDash val="solid"/>
          </a:ln>
        </p:spPr>
      </p:sp>
      <p:sp>
        <p:nvSpPr>
          <p:cNvPr id="11" name="Shape 9"/>
          <p:cNvSpPr/>
          <p:nvPr/>
        </p:nvSpPr>
        <p:spPr>
          <a:xfrm flipV="1">
            <a:off x="9454896" y="455371"/>
            <a:ext cx="409651" cy="146304"/>
          </a:xfrm>
          <a:prstGeom prst="line">
            <a:avLst/>
          </a:prstGeom>
          <a:noFill/>
          <a:ln w="12700">
            <a:solidFill>
              <a:srgbClr val="223252">
                <a:alpha val="65000"/>
              </a:srgbClr>
            </a:solidFill>
            <a:prstDash val="solid"/>
          </a:ln>
        </p:spPr>
      </p:sp>
      <p:sp>
        <p:nvSpPr>
          <p:cNvPr id="12" name="Shape 10"/>
          <p:cNvSpPr/>
          <p:nvPr/>
        </p:nvSpPr>
        <p:spPr>
          <a:xfrm>
            <a:off x="8752637" y="513893"/>
            <a:ext cx="263347" cy="351130"/>
          </a:xfrm>
          <a:prstGeom prst="line">
            <a:avLst/>
          </a:prstGeom>
          <a:noFill/>
          <a:ln w="12700">
            <a:solidFill>
              <a:srgbClr val="223252">
                <a:alpha val="65000"/>
              </a:srgbClr>
            </a:solidFill>
            <a:prstDash val="solid"/>
          </a:ln>
        </p:spPr>
      </p:sp>
      <p:sp>
        <p:nvSpPr>
          <p:cNvPr id="13" name="Shape 11"/>
          <p:cNvSpPr/>
          <p:nvPr/>
        </p:nvSpPr>
        <p:spPr>
          <a:xfrm>
            <a:off x="9103766" y="426110"/>
            <a:ext cx="292608" cy="351130"/>
          </a:xfrm>
          <a:prstGeom prst="line">
            <a:avLst/>
          </a:prstGeom>
          <a:noFill/>
          <a:ln w="12700">
            <a:solidFill>
              <a:srgbClr val="223252">
                <a:alpha val="65000"/>
              </a:srgbClr>
            </a:solidFill>
            <a:prstDash val="solid"/>
          </a:ln>
        </p:spPr>
      </p:sp>
      <p:sp>
        <p:nvSpPr>
          <p:cNvPr id="14" name="Shape 12"/>
          <p:cNvSpPr/>
          <p:nvPr/>
        </p:nvSpPr>
        <p:spPr>
          <a:xfrm>
            <a:off x="9454896" y="601675"/>
            <a:ext cx="321869" cy="321869"/>
          </a:xfrm>
          <a:prstGeom prst="line">
            <a:avLst/>
          </a:prstGeom>
          <a:noFill/>
          <a:ln w="12700">
            <a:solidFill>
              <a:srgbClr val="223252">
                <a:alpha val="65000"/>
              </a:srgbClr>
            </a:solidFill>
            <a:prstDash val="solid"/>
          </a:ln>
        </p:spPr>
      </p:sp>
      <p:sp>
        <p:nvSpPr>
          <p:cNvPr id="15" name="Shape 13"/>
          <p:cNvSpPr/>
          <p:nvPr/>
        </p:nvSpPr>
        <p:spPr>
          <a:xfrm flipV="1">
            <a:off x="9015984" y="777240"/>
            <a:ext cx="380390" cy="87782"/>
          </a:xfrm>
          <a:prstGeom prst="line">
            <a:avLst/>
          </a:prstGeom>
          <a:noFill/>
          <a:ln w="12700">
            <a:solidFill>
              <a:srgbClr val="223252">
                <a:alpha val="65000"/>
              </a:srgbClr>
            </a:solidFill>
            <a:prstDash val="solid"/>
          </a:ln>
        </p:spPr>
      </p:sp>
      <p:sp>
        <p:nvSpPr>
          <p:cNvPr id="16" name="Shape 14"/>
          <p:cNvSpPr/>
          <p:nvPr/>
        </p:nvSpPr>
        <p:spPr>
          <a:xfrm>
            <a:off x="9396374" y="777240"/>
            <a:ext cx="380390" cy="146304"/>
          </a:xfrm>
          <a:prstGeom prst="line">
            <a:avLst/>
          </a:prstGeom>
          <a:noFill/>
          <a:ln w="12700">
            <a:solidFill>
              <a:srgbClr val="223252">
                <a:alpha val="65000"/>
              </a:srgbClr>
            </a:solidFill>
            <a:prstDash val="solid"/>
          </a:ln>
        </p:spPr>
      </p:sp>
      <p:sp>
        <p:nvSpPr>
          <p:cNvPr id="17" name="Shape 15"/>
          <p:cNvSpPr/>
          <p:nvPr/>
        </p:nvSpPr>
        <p:spPr>
          <a:xfrm flipH="1">
            <a:off x="8898941" y="865022"/>
            <a:ext cx="117043" cy="321869"/>
          </a:xfrm>
          <a:prstGeom prst="line">
            <a:avLst/>
          </a:prstGeom>
          <a:noFill/>
          <a:ln w="12700">
            <a:solidFill>
              <a:srgbClr val="223252">
                <a:alpha val="65000"/>
              </a:srgbClr>
            </a:solidFill>
            <a:prstDash val="solid"/>
          </a:ln>
        </p:spPr>
      </p:sp>
      <p:sp>
        <p:nvSpPr>
          <p:cNvPr id="18" name="Shape 16"/>
          <p:cNvSpPr/>
          <p:nvPr/>
        </p:nvSpPr>
        <p:spPr>
          <a:xfrm flipH="1">
            <a:off x="9279331" y="777240"/>
            <a:ext cx="117043" cy="351130"/>
          </a:xfrm>
          <a:prstGeom prst="line">
            <a:avLst/>
          </a:prstGeom>
          <a:noFill/>
          <a:ln w="12700">
            <a:solidFill>
              <a:srgbClr val="223252">
                <a:alpha val="65000"/>
              </a:srgbClr>
            </a:solidFill>
            <a:prstDash val="solid"/>
          </a:ln>
        </p:spPr>
      </p:sp>
      <p:sp>
        <p:nvSpPr>
          <p:cNvPr id="19" name="Shape 17"/>
          <p:cNvSpPr/>
          <p:nvPr/>
        </p:nvSpPr>
        <p:spPr>
          <a:xfrm flipH="1">
            <a:off x="9659722" y="923544"/>
            <a:ext cx="117043" cy="351130"/>
          </a:xfrm>
          <a:prstGeom prst="line">
            <a:avLst/>
          </a:prstGeom>
          <a:noFill/>
          <a:ln w="12700">
            <a:solidFill>
              <a:srgbClr val="223252">
                <a:alpha val="65000"/>
              </a:srgbClr>
            </a:solidFill>
            <a:prstDash val="solid"/>
          </a:ln>
        </p:spPr>
      </p:sp>
      <p:sp>
        <p:nvSpPr>
          <p:cNvPr id="20" name="Shape 18"/>
          <p:cNvSpPr/>
          <p:nvPr/>
        </p:nvSpPr>
        <p:spPr>
          <a:xfrm flipV="1">
            <a:off x="8898941" y="1128370"/>
            <a:ext cx="380390" cy="58522"/>
          </a:xfrm>
          <a:prstGeom prst="line">
            <a:avLst/>
          </a:prstGeom>
          <a:noFill/>
          <a:ln w="12700">
            <a:solidFill>
              <a:srgbClr val="223252">
                <a:alpha val="65000"/>
              </a:srgbClr>
            </a:solidFill>
            <a:prstDash val="solid"/>
          </a:ln>
        </p:spPr>
      </p:sp>
      <p:sp>
        <p:nvSpPr>
          <p:cNvPr id="21" name="Shape 19"/>
          <p:cNvSpPr/>
          <p:nvPr/>
        </p:nvSpPr>
        <p:spPr>
          <a:xfrm>
            <a:off x="9279331" y="1128370"/>
            <a:ext cx="380390" cy="146304"/>
          </a:xfrm>
          <a:prstGeom prst="line">
            <a:avLst/>
          </a:prstGeom>
          <a:noFill/>
          <a:ln w="12700">
            <a:solidFill>
              <a:srgbClr val="223252">
                <a:alpha val="65000"/>
              </a:srgbClr>
            </a:solidFill>
            <a:prstDash val="solid"/>
          </a:ln>
        </p:spPr>
      </p:sp>
      <p:sp>
        <p:nvSpPr>
          <p:cNvPr id="22" name="Shape 20"/>
          <p:cNvSpPr/>
          <p:nvPr/>
        </p:nvSpPr>
        <p:spPr>
          <a:xfrm flipV="1">
            <a:off x="9659722" y="1157630"/>
            <a:ext cx="263347" cy="117043"/>
          </a:xfrm>
          <a:prstGeom prst="line">
            <a:avLst/>
          </a:prstGeom>
          <a:noFill/>
          <a:ln w="12700">
            <a:solidFill>
              <a:srgbClr val="223252">
                <a:alpha val="65000"/>
              </a:srgbClr>
            </a:solidFill>
            <a:prstDash val="solid"/>
          </a:ln>
        </p:spPr>
      </p:sp>
      <p:sp>
        <p:nvSpPr>
          <p:cNvPr id="23" name="Shape 21"/>
          <p:cNvSpPr/>
          <p:nvPr/>
        </p:nvSpPr>
        <p:spPr>
          <a:xfrm>
            <a:off x="8898941" y="1186891"/>
            <a:ext cx="175565" cy="292608"/>
          </a:xfrm>
          <a:prstGeom prst="line">
            <a:avLst/>
          </a:prstGeom>
          <a:noFill/>
          <a:ln w="12700">
            <a:solidFill>
              <a:srgbClr val="223252">
                <a:alpha val="65000"/>
              </a:srgbClr>
            </a:solidFill>
            <a:prstDash val="solid"/>
          </a:ln>
        </p:spPr>
      </p:sp>
      <p:sp>
        <p:nvSpPr>
          <p:cNvPr id="24" name="Shape 22"/>
          <p:cNvSpPr/>
          <p:nvPr/>
        </p:nvSpPr>
        <p:spPr>
          <a:xfrm>
            <a:off x="9279331" y="1128370"/>
            <a:ext cx="175565" cy="409651"/>
          </a:xfrm>
          <a:prstGeom prst="line">
            <a:avLst/>
          </a:prstGeom>
          <a:noFill/>
          <a:ln w="12700">
            <a:solidFill>
              <a:srgbClr val="223252">
                <a:alpha val="65000"/>
              </a:srgbClr>
            </a:solidFill>
            <a:prstDash val="solid"/>
          </a:ln>
        </p:spPr>
      </p:sp>
      <p:sp>
        <p:nvSpPr>
          <p:cNvPr id="25" name="Shape 23"/>
          <p:cNvSpPr/>
          <p:nvPr/>
        </p:nvSpPr>
        <p:spPr>
          <a:xfrm>
            <a:off x="9659722" y="1274674"/>
            <a:ext cx="117043" cy="321869"/>
          </a:xfrm>
          <a:prstGeom prst="line">
            <a:avLst/>
          </a:prstGeom>
          <a:noFill/>
          <a:ln w="12700">
            <a:solidFill>
              <a:srgbClr val="223252">
                <a:alpha val="65000"/>
              </a:srgbClr>
            </a:solidFill>
            <a:prstDash val="solid"/>
          </a:ln>
        </p:spPr>
      </p:sp>
      <p:sp>
        <p:nvSpPr>
          <p:cNvPr id="26" name="Shape 24"/>
          <p:cNvSpPr/>
          <p:nvPr/>
        </p:nvSpPr>
        <p:spPr>
          <a:xfrm>
            <a:off x="9074506" y="1479499"/>
            <a:ext cx="380390" cy="58522"/>
          </a:xfrm>
          <a:prstGeom prst="line">
            <a:avLst/>
          </a:prstGeom>
          <a:noFill/>
          <a:ln w="12700">
            <a:solidFill>
              <a:srgbClr val="223252">
                <a:alpha val="65000"/>
              </a:srgbClr>
            </a:solidFill>
            <a:prstDash val="solid"/>
          </a:ln>
        </p:spPr>
      </p:sp>
      <p:sp>
        <p:nvSpPr>
          <p:cNvPr id="27" name="Shape 25"/>
          <p:cNvSpPr/>
          <p:nvPr/>
        </p:nvSpPr>
        <p:spPr>
          <a:xfrm>
            <a:off x="9454896" y="1538021"/>
            <a:ext cx="321869" cy="58522"/>
          </a:xfrm>
          <a:prstGeom prst="line">
            <a:avLst/>
          </a:prstGeom>
          <a:noFill/>
          <a:ln w="12700">
            <a:solidFill>
              <a:srgbClr val="223252">
                <a:alpha val="65000"/>
              </a:srgbClr>
            </a:solidFill>
            <a:prstDash val="solid"/>
          </a:ln>
        </p:spPr>
      </p:sp>
      <p:sp>
        <p:nvSpPr>
          <p:cNvPr id="28" name="Shape 26"/>
          <p:cNvSpPr/>
          <p:nvPr/>
        </p:nvSpPr>
        <p:spPr>
          <a:xfrm>
            <a:off x="8823960" y="87782"/>
            <a:ext cx="91440" cy="91440"/>
          </a:xfrm>
          <a:prstGeom prst="ellipse">
            <a:avLst/>
          </a:prstGeom>
          <a:solidFill>
            <a:srgbClr val="6C82AC">
              <a:alpha val="75000"/>
            </a:srgbClr>
          </a:solidFill>
          <a:ln/>
        </p:spPr>
      </p:sp>
      <p:sp>
        <p:nvSpPr>
          <p:cNvPr id="29" name="Shape 27"/>
          <p:cNvSpPr/>
          <p:nvPr/>
        </p:nvSpPr>
        <p:spPr>
          <a:xfrm>
            <a:off x="9145829" y="0"/>
            <a:ext cx="91440" cy="91440"/>
          </a:xfrm>
          <a:prstGeom prst="ellipse">
            <a:avLst/>
          </a:prstGeom>
          <a:solidFill>
            <a:srgbClr val="6C82AC">
              <a:alpha val="75000"/>
            </a:srgbClr>
          </a:solidFill>
          <a:ln/>
        </p:spPr>
      </p:sp>
      <p:sp>
        <p:nvSpPr>
          <p:cNvPr id="30" name="Shape 28"/>
          <p:cNvSpPr/>
          <p:nvPr/>
        </p:nvSpPr>
        <p:spPr>
          <a:xfrm>
            <a:off x="9474098" y="152705"/>
            <a:ext cx="137160" cy="137160"/>
          </a:xfrm>
          <a:prstGeom prst="ellipse">
            <a:avLst/>
          </a:prstGeom>
          <a:solidFill>
            <a:srgbClr val="F5A524">
              <a:alpha val="95000"/>
            </a:srgbClr>
          </a:solidFill>
          <a:ln/>
        </p:spPr>
      </p:sp>
      <p:sp>
        <p:nvSpPr>
          <p:cNvPr id="31" name="Shape 29"/>
          <p:cNvSpPr/>
          <p:nvPr/>
        </p:nvSpPr>
        <p:spPr>
          <a:xfrm>
            <a:off x="9789566" y="29261"/>
            <a:ext cx="91440" cy="91440"/>
          </a:xfrm>
          <a:prstGeom prst="ellipse">
            <a:avLst/>
          </a:prstGeom>
          <a:solidFill>
            <a:srgbClr val="6C82AC">
              <a:alpha val="75000"/>
            </a:srgbClr>
          </a:solidFill>
          <a:ln/>
        </p:spPr>
      </p:sp>
      <p:sp>
        <p:nvSpPr>
          <p:cNvPr id="32" name="Shape 30"/>
          <p:cNvSpPr/>
          <p:nvPr/>
        </p:nvSpPr>
        <p:spPr>
          <a:xfrm>
            <a:off x="8706917" y="468173"/>
            <a:ext cx="91440" cy="91440"/>
          </a:xfrm>
          <a:prstGeom prst="ellipse">
            <a:avLst/>
          </a:prstGeom>
          <a:solidFill>
            <a:srgbClr val="6C82AC">
              <a:alpha val="75000"/>
            </a:srgbClr>
          </a:solidFill>
          <a:ln/>
        </p:spPr>
      </p:sp>
      <p:sp>
        <p:nvSpPr>
          <p:cNvPr id="33" name="Shape 31"/>
          <p:cNvSpPr/>
          <p:nvPr/>
        </p:nvSpPr>
        <p:spPr>
          <a:xfrm>
            <a:off x="9058046" y="380390"/>
            <a:ext cx="91440" cy="91440"/>
          </a:xfrm>
          <a:prstGeom prst="ellipse">
            <a:avLst/>
          </a:prstGeom>
          <a:solidFill>
            <a:srgbClr val="6C82AC">
              <a:alpha val="75000"/>
            </a:srgbClr>
          </a:solidFill>
          <a:ln/>
        </p:spPr>
      </p:sp>
      <p:sp>
        <p:nvSpPr>
          <p:cNvPr id="34" name="Shape 32"/>
          <p:cNvSpPr/>
          <p:nvPr/>
        </p:nvSpPr>
        <p:spPr>
          <a:xfrm>
            <a:off x="9409176" y="555955"/>
            <a:ext cx="91440" cy="91440"/>
          </a:xfrm>
          <a:prstGeom prst="ellipse">
            <a:avLst/>
          </a:prstGeom>
          <a:solidFill>
            <a:srgbClr val="6C82AC">
              <a:alpha val="75000"/>
            </a:srgbClr>
          </a:solidFill>
          <a:ln/>
        </p:spPr>
      </p:sp>
      <p:sp>
        <p:nvSpPr>
          <p:cNvPr id="35" name="Shape 33"/>
          <p:cNvSpPr/>
          <p:nvPr/>
        </p:nvSpPr>
        <p:spPr>
          <a:xfrm>
            <a:off x="9818827" y="409651"/>
            <a:ext cx="91440" cy="91440"/>
          </a:xfrm>
          <a:prstGeom prst="ellipse">
            <a:avLst/>
          </a:prstGeom>
          <a:solidFill>
            <a:srgbClr val="6C82AC">
              <a:alpha val="75000"/>
            </a:srgbClr>
          </a:solidFill>
          <a:ln/>
        </p:spPr>
      </p:sp>
      <p:sp>
        <p:nvSpPr>
          <p:cNvPr id="36" name="Shape 34"/>
          <p:cNvSpPr/>
          <p:nvPr/>
        </p:nvSpPr>
        <p:spPr>
          <a:xfrm>
            <a:off x="8970264" y="819302"/>
            <a:ext cx="91440" cy="91440"/>
          </a:xfrm>
          <a:prstGeom prst="ellipse">
            <a:avLst/>
          </a:prstGeom>
          <a:solidFill>
            <a:srgbClr val="6C82AC">
              <a:alpha val="75000"/>
            </a:srgbClr>
          </a:solidFill>
          <a:ln/>
        </p:spPr>
      </p:sp>
      <p:sp>
        <p:nvSpPr>
          <p:cNvPr id="37" name="Shape 35"/>
          <p:cNvSpPr/>
          <p:nvPr/>
        </p:nvSpPr>
        <p:spPr>
          <a:xfrm>
            <a:off x="9327794" y="708660"/>
            <a:ext cx="137160" cy="137160"/>
          </a:xfrm>
          <a:prstGeom prst="ellipse">
            <a:avLst/>
          </a:prstGeom>
          <a:solidFill>
            <a:srgbClr val="F5A524">
              <a:alpha val="95000"/>
            </a:srgbClr>
          </a:solidFill>
          <a:ln/>
        </p:spPr>
      </p:sp>
      <p:sp>
        <p:nvSpPr>
          <p:cNvPr id="38" name="Shape 36"/>
          <p:cNvSpPr/>
          <p:nvPr/>
        </p:nvSpPr>
        <p:spPr>
          <a:xfrm>
            <a:off x="9731045" y="877824"/>
            <a:ext cx="91440" cy="91440"/>
          </a:xfrm>
          <a:prstGeom prst="ellipse">
            <a:avLst/>
          </a:prstGeom>
          <a:solidFill>
            <a:srgbClr val="6C82AC">
              <a:alpha val="75000"/>
            </a:srgbClr>
          </a:solidFill>
          <a:ln/>
        </p:spPr>
      </p:sp>
      <p:sp>
        <p:nvSpPr>
          <p:cNvPr id="39" name="Shape 37"/>
          <p:cNvSpPr/>
          <p:nvPr/>
        </p:nvSpPr>
        <p:spPr>
          <a:xfrm>
            <a:off x="8853221" y="1141171"/>
            <a:ext cx="91440" cy="91440"/>
          </a:xfrm>
          <a:prstGeom prst="ellipse">
            <a:avLst/>
          </a:prstGeom>
          <a:solidFill>
            <a:srgbClr val="6C82AC">
              <a:alpha val="75000"/>
            </a:srgbClr>
          </a:solidFill>
          <a:ln/>
        </p:spPr>
      </p:sp>
      <p:sp>
        <p:nvSpPr>
          <p:cNvPr id="40" name="Shape 38"/>
          <p:cNvSpPr/>
          <p:nvPr/>
        </p:nvSpPr>
        <p:spPr>
          <a:xfrm>
            <a:off x="9233611" y="1082650"/>
            <a:ext cx="91440" cy="91440"/>
          </a:xfrm>
          <a:prstGeom prst="ellipse">
            <a:avLst/>
          </a:prstGeom>
          <a:solidFill>
            <a:srgbClr val="6C82AC">
              <a:alpha val="75000"/>
            </a:srgbClr>
          </a:solidFill>
          <a:ln/>
        </p:spPr>
      </p:sp>
      <p:sp>
        <p:nvSpPr>
          <p:cNvPr id="41" name="Shape 39"/>
          <p:cNvSpPr/>
          <p:nvPr/>
        </p:nvSpPr>
        <p:spPr>
          <a:xfrm>
            <a:off x="9614002" y="1228954"/>
            <a:ext cx="91440" cy="91440"/>
          </a:xfrm>
          <a:prstGeom prst="ellipse">
            <a:avLst/>
          </a:prstGeom>
          <a:solidFill>
            <a:srgbClr val="6C82AC">
              <a:alpha val="75000"/>
            </a:srgbClr>
          </a:solidFill>
          <a:ln/>
        </p:spPr>
      </p:sp>
      <p:sp>
        <p:nvSpPr>
          <p:cNvPr id="42" name="Shape 40"/>
          <p:cNvSpPr/>
          <p:nvPr/>
        </p:nvSpPr>
        <p:spPr>
          <a:xfrm>
            <a:off x="9877349" y="1111910"/>
            <a:ext cx="91440" cy="91440"/>
          </a:xfrm>
          <a:prstGeom prst="ellipse">
            <a:avLst/>
          </a:prstGeom>
          <a:solidFill>
            <a:srgbClr val="6C82AC">
              <a:alpha val="75000"/>
            </a:srgbClr>
          </a:solidFill>
          <a:ln/>
        </p:spPr>
      </p:sp>
      <p:sp>
        <p:nvSpPr>
          <p:cNvPr id="43" name="Shape 41"/>
          <p:cNvSpPr/>
          <p:nvPr/>
        </p:nvSpPr>
        <p:spPr>
          <a:xfrm>
            <a:off x="9028786" y="1433779"/>
            <a:ext cx="91440" cy="91440"/>
          </a:xfrm>
          <a:prstGeom prst="ellipse">
            <a:avLst/>
          </a:prstGeom>
          <a:solidFill>
            <a:srgbClr val="6C82AC">
              <a:alpha val="75000"/>
            </a:srgbClr>
          </a:solidFill>
          <a:ln/>
        </p:spPr>
      </p:sp>
      <p:sp>
        <p:nvSpPr>
          <p:cNvPr id="44" name="Shape 42"/>
          <p:cNvSpPr/>
          <p:nvPr/>
        </p:nvSpPr>
        <p:spPr>
          <a:xfrm>
            <a:off x="9386316" y="1469441"/>
            <a:ext cx="137160" cy="137160"/>
          </a:xfrm>
          <a:prstGeom prst="ellipse">
            <a:avLst/>
          </a:prstGeom>
          <a:solidFill>
            <a:srgbClr val="F5A524">
              <a:alpha val="95000"/>
            </a:srgbClr>
          </a:solidFill>
          <a:ln/>
        </p:spPr>
      </p:sp>
      <p:sp>
        <p:nvSpPr>
          <p:cNvPr id="45" name="Shape 43"/>
          <p:cNvSpPr/>
          <p:nvPr/>
        </p:nvSpPr>
        <p:spPr>
          <a:xfrm>
            <a:off x="9731045" y="1550822"/>
            <a:ext cx="91440" cy="91440"/>
          </a:xfrm>
          <a:prstGeom prst="ellipse">
            <a:avLst/>
          </a:prstGeom>
          <a:solidFill>
            <a:srgbClr val="6C82AC">
              <a:alpha val="75000"/>
            </a:srgbClr>
          </a:solidFill>
          <a:ln/>
        </p:spPr>
      </p:sp>
      <p:sp>
        <p:nvSpPr>
          <p:cNvPr id="46" name="Text 44"/>
          <p:cNvSpPr txBox="1"/>
          <p:nvPr/>
        </p:nvSpPr>
        <p:spPr>
          <a:xfrm>
            <a:off x="502920" y="201168"/>
            <a:ext cx="7315200" cy="274320"/>
          </a:xfrm>
          <a:prstGeom prst="rect">
            <a:avLst/>
          </a:prstGeom>
          <a:noFill/>
          <a:ln/>
        </p:spPr>
        <p:txBody>
          <a:bodyPr wrap="square" lIns="0" tIns="0" rIns="0" bIns="0" rtlCol="0" anchor="ctr"/>
          <a:lstStyle/>
          <a:p>
            <a:pPr algn="l" indent="0" marL="0">
              <a:buNone/>
            </a:pPr>
            <a:r>
              <a:rPr lang="en-US" sz="1250" b="1" spc="200" kern="0" dirty="0">
                <a:solidFill>
                  <a:srgbClr val="F5A524"/>
                </a:solidFill>
                <a:latin typeface="Leelawadee UI" pitchFamily="34" charset="0"/>
                <a:ea typeface="Leelawadee UI" pitchFamily="34" charset="-122"/>
                <a:cs typeface="Leelawadee UI" pitchFamily="34" charset="-120"/>
              </a:rPr>
              <a:t>CONCEPT การทำงาน</a:t>
            </a:r>
            <a:endParaRPr lang="en-US" sz="1250" dirty="0"/>
          </a:p>
        </p:txBody>
      </p:sp>
      <p:sp>
        <p:nvSpPr>
          <p:cNvPr id="47" name="Text 45"/>
          <p:cNvSpPr txBox="1"/>
          <p:nvPr/>
        </p:nvSpPr>
        <p:spPr>
          <a:xfrm>
            <a:off x="502920" y="457200"/>
            <a:ext cx="11185855" cy="685800"/>
          </a:xfrm>
          <a:prstGeom prst="rect">
            <a:avLst/>
          </a:prstGeom>
          <a:noFill/>
          <a:ln/>
        </p:spPr>
        <p:txBody>
          <a:bodyPr wrap="square" lIns="0" tIns="0" rIns="0" bIns="0" rtlCol="0" anchor="t"/>
          <a:lstStyle/>
          <a:p>
            <a:pPr algn="l" indent="0" marL="0">
              <a:buNone/>
            </a:pPr>
            <a:r>
              <a:rPr lang="en-US" sz="3000" b="1" dirty="0">
                <a:solidFill>
                  <a:srgbClr val="FFFFFF"/>
                </a:solidFill>
                <a:latin typeface="Leelawadee UI" pitchFamily="34" charset="0"/>
                <a:ea typeface="Leelawadee UI" pitchFamily="34" charset="-122"/>
                <a:cs typeface="Leelawadee UI" pitchFamily="34" charset="-120"/>
              </a:rPr>
              <a:t>หลักการสำคัญ: LLM ไม่ใช่ Knowledge Base</a:t>
            </a:r>
            <a:endParaRPr lang="en-US" sz="3000" dirty="0"/>
          </a:p>
        </p:txBody>
      </p:sp>
      <p:sp>
        <p:nvSpPr>
          <p:cNvPr id="48" name="Shape 46"/>
          <p:cNvSpPr/>
          <p:nvPr/>
        </p:nvSpPr>
        <p:spPr>
          <a:xfrm>
            <a:off x="502920" y="1417320"/>
            <a:ext cx="11185855" cy="685800"/>
          </a:xfrm>
          <a:prstGeom prst="roundRect">
            <a:avLst>
              <a:gd name="adj" fmla="val 13333"/>
            </a:avLst>
          </a:prstGeom>
          <a:solidFill>
            <a:srgbClr val="16233F"/>
          </a:solidFill>
          <a:ln/>
          <a:effectLst>
            <a:outerShdw sx="100000" sy="100000" kx="0" ky="0" algn="bl" rotWithShape="0" blurRad="127000" dist="38100" dir="5400000">
              <a:srgbClr val="1B2A4A">
                <a:alpha val="28000"/>
              </a:srgbClr>
            </a:outerShdw>
          </a:effectLst>
        </p:spPr>
      </p:sp>
      <p:sp>
        <p:nvSpPr>
          <p:cNvPr id="49" name="Text 47"/>
          <p:cNvSpPr txBox="1"/>
          <p:nvPr/>
        </p:nvSpPr>
        <p:spPr>
          <a:xfrm>
            <a:off x="795528" y="1417320"/>
            <a:ext cx="10600639" cy="685800"/>
          </a:xfrm>
          <a:prstGeom prst="rect">
            <a:avLst/>
          </a:prstGeom>
          <a:noFill/>
          <a:ln/>
        </p:spPr>
        <p:txBody>
          <a:bodyPr wrap="square" lIns="0" tIns="0" rIns="0" bIns="0" rtlCol="0" anchor="ctr"/>
          <a:lstStyle/>
          <a:p>
            <a:pPr indent="0" marL="0">
              <a:lnSpc>
                <a:spcPct val="120000"/>
              </a:lnSpc>
              <a:buNone/>
            </a:pPr>
            <a:r>
              <a:rPr lang="en-US" sz="1400" b="1" dirty="0">
                <a:solidFill>
                  <a:srgbClr val="FFFFFF"/>
                </a:solidFill>
                <a:latin typeface="Leelawadee UI" pitchFamily="34" charset="0"/>
                <a:ea typeface="Leelawadee UI" pitchFamily="34" charset="-122"/>
                <a:cs typeface="Leelawadee UI" pitchFamily="34" charset="-120"/>
              </a:rPr>
              <a:t>LLM ทำหน้าที่เพียง “แปลภาษา” — Natural Language ⇄ SPARQL เท่านั้น ความจริงทั้งหมดต้องมาจาก Knowledge Graph เสมอ</a:t>
            </a:r>
            <a:endParaRPr lang="en-US" sz="1400" dirty="0"/>
          </a:p>
        </p:txBody>
      </p:sp>
      <p:sp>
        <p:nvSpPr>
          <p:cNvPr id="50" name="Shape 48"/>
          <p:cNvSpPr/>
          <p:nvPr/>
        </p:nvSpPr>
        <p:spPr>
          <a:xfrm>
            <a:off x="502920" y="2331720"/>
            <a:ext cx="5349240" cy="2468880"/>
          </a:xfrm>
          <a:prstGeom prst="roundRect">
            <a:avLst>
              <a:gd name="adj" fmla="val 3704"/>
            </a:avLst>
          </a:prstGeom>
          <a:solidFill>
            <a:srgbClr val="16233F"/>
          </a:solidFill>
          <a:ln/>
        </p:spPr>
      </p:sp>
      <p:sp>
        <p:nvSpPr>
          <p:cNvPr id="51" name="Text 49"/>
          <p:cNvSpPr txBox="1"/>
          <p:nvPr/>
        </p:nvSpPr>
        <p:spPr>
          <a:xfrm>
            <a:off x="758952" y="2514600"/>
            <a:ext cx="4837176" cy="274320"/>
          </a:xfrm>
          <a:prstGeom prst="rect">
            <a:avLst/>
          </a:prstGeom>
          <a:noFill/>
          <a:ln/>
        </p:spPr>
        <p:txBody>
          <a:bodyPr wrap="square" lIns="0" tIns="0" rIns="0" bIns="0" rtlCol="0" anchor="ctr"/>
          <a:lstStyle/>
          <a:p>
            <a:pPr indent="0" marL="0">
              <a:buNone/>
            </a:pPr>
            <a:r>
              <a:rPr lang="en-US" sz="1300" b="1" dirty="0">
                <a:solidFill>
                  <a:srgbClr val="FFFFFF"/>
                </a:solidFill>
                <a:latin typeface="Leelawadee UI" pitchFamily="34" charset="0"/>
                <a:ea typeface="Leelawadee UI" pitchFamily="34" charset="-122"/>
                <a:cs typeface="Leelawadee UI" pitchFamily="34" charset="-120"/>
              </a:rPr>
              <a:t>บทบาทของแต่ละองค์ประกอบ</a:t>
            </a:r>
            <a:endParaRPr lang="en-US" sz="1300" dirty="0"/>
          </a:p>
        </p:txBody>
      </p:sp>
      <p:pic>
        <p:nvPicPr>
          <p:cNvPr id="52" name="Image 0" descr="/tmp/claude-0/-home-claude/031105a5-f49f-54fe-8ccb-acf4a5fade53/scratchpad/deck/assets/ic_llm.png">    </p:cNvPr>
          <p:cNvPicPr>
            <a:picLocks noChangeAspect="1"/>
          </p:cNvPicPr>
          <p:nvPr/>
        </p:nvPicPr>
        <p:blipFill>
          <a:blip r:embed="rId1"/>
          <a:stretch>
            <a:fillRect/>
          </a:stretch>
        </p:blipFill>
        <p:spPr>
          <a:xfrm>
            <a:off x="758952" y="2926080"/>
            <a:ext cx="384048" cy="384048"/>
          </a:xfrm>
          <a:prstGeom prst="rect">
            <a:avLst/>
          </a:prstGeom>
          <a:effectLst>
            <a:outerShdw sx="100000" sy="100000" kx="0" ky="0" algn="bl" rotWithShape="0" blurRad="76200" dist="25400" dir="5400000">
              <a:srgbClr val="1B2A4A">
                <a:alpha val="28000"/>
              </a:srgbClr>
            </a:outerShdw>
          </a:effectLst>
        </p:spPr>
      </p:pic>
      <p:sp>
        <p:nvSpPr>
          <p:cNvPr id="53" name="Text 50"/>
          <p:cNvSpPr txBox="1"/>
          <p:nvPr/>
        </p:nvSpPr>
        <p:spPr>
          <a:xfrm>
            <a:off x="1252728" y="2953512"/>
            <a:ext cx="4343400" cy="457200"/>
          </a:xfrm>
          <a:prstGeom prst="rect">
            <a:avLst/>
          </a:prstGeom>
          <a:noFill/>
          <a:ln/>
        </p:spPr>
        <p:txBody>
          <a:bodyPr wrap="square" lIns="0" tIns="0" rIns="0" bIns="0" rtlCol="0" anchor="ctr"/>
          <a:lstStyle/>
          <a:p>
            <a:pPr indent="0" marL="0">
              <a:lnSpc>
                <a:spcPct val="120000"/>
              </a:lnSpc>
              <a:buNone/>
            </a:pPr>
            <a:r>
              <a:rPr lang="en-US" sz="1050" dirty="0">
                <a:solidFill>
                  <a:srgbClr val="D7DEF0"/>
                </a:solidFill>
                <a:latin typeface="Leelawadee UI" pitchFamily="34" charset="0"/>
                <a:ea typeface="Leelawadee UI" pitchFamily="34" charset="-122"/>
                <a:cs typeface="Leelawadee UI" pitchFamily="34" charset="-120"/>
              </a:rPr>
              <a:t>LLM: แปล NL ⇄ SPARQL เท่านั้น ไม่สร้างข้อเท็จจริงเอง</a:t>
            </a:r>
            <a:endParaRPr lang="en-US" sz="1050" dirty="0"/>
          </a:p>
        </p:txBody>
      </p:sp>
      <p:pic>
        <p:nvPicPr>
          <p:cNvPr id="54" name="Image 1" descr="/tmp/claude-0/-home-claude/031105a5-f49f-54fe-8ccb-acf4a5fade53/scratchpad/deck/assets/ic_db.png">    </p:cNvPr>
          <p:cNvPicPr>
            <a:picLocks noChangeAspect="1"/>
          </p:cNvPicPr>
          <p:nvPr/>
        </p:nvPicPr>
        <p:blipFill>
          <a:blip r:embed="rId2"/>
          <a:stretch>
            <a:fillRect/>
          </a:stretch>
        </p:blipFill>
        <p:spPr>
          <a:xfrm>
            <a:off x="758952" y="3474720"/>
            <a:ext cx="384048" cy="384048"/>
          </a:xfrm>
          <a:prstGeom prst="rect">
            <a:avLst/>
          </a:prstGeom>
          <a:effectLst>
            <a:outerShdw sx="100000" sy="100000" kx="0" ky="0" algn="bl" rotWithShape="0" blurRad="76200" dist="25400" dir="5400000">
              <a:srgbClr val="1B2A4A">
                <a:alpha val="28000"/>
              </a:srgbClr>
            </a:outerShdw>
          </a:effectLst>
        </p:spPr>
      </p:pic>
      <p:sp>
        <p:nvSpPr>
          <p:cNvPr id="55" name="Text 51"/>
          <p:cNvSpPr txBox="1"/>
          <p:nvPr/>
        </p:nvSpPr>
        <p:spPr>
          <a:xfrm>
            <a:off x="1252728" y="3502152"/>
            <a:ext cx="4343400" cy="457200"/>
          </a:xfrm>
          <a:prstGeom prst="rect">
            <a:avLst/>
          </a:prstGeom>
          <a:noFill/>
          <a:ln/>
        </p:spPr>
        <p:txBody>
          <a:bodyPr wrap="square" lIns="0" tIns="0" rIns="0" bIns="0" rtlCol="0" anchor="ctr"/>
          <a:lstStyle/>
          <a:p>
            <a:pPr indent="0" marL="0">
              <a:lnSpc>
                <a:spcPct val="120000"/>
              </a:lnSpc>
              <a:buNone/>
            </a:pPr>
            <a:r>
              <a:rPr lang="en-US" sz="1050" dirty="0">
                <a:solidFill>
                  <a:srgbClr val="D7DEF0"/>
                </a:solidFill>
                <a:latin typeface="Leelawadee UI" pitchFamily="34" charset="0"/>
                <a:ea typeface="Leelawadee UI" pitchFamily="34" charset="-122"/>
                <a:cs typeface="Leelawadee UI" pitchFamily="34" charset="-120"/>
              </a:rPr>
              <a:t>Knowledge Graph: แหล่งความจริงเดียว (single source of truth)</a:t>
            </a:r>
            <a:endParaRPr lang="en-US" sz="1050" dirty="0"/>
          </a:p>
        </p:txBody>
      </p:sp>
      <p:sp>
        <p:nvSpPr>
          <p:cNvPr id="56" name="Text 52"/>
          <p:cNvSpPr txBox="1"/>
          <p:nvPr/>
        </p:nvSpPr>
        <p:spPr>
          <a:xfrm>
            <a:off x="758952" y="4114800"/>
            <a:ext cx="4837176" cy="548640"/>
          </a:xfrm>
          <a:prstGeom prst="rect">
            <a:avLst/>
          </a:prstGeom>
          <a:noFill/>
          <a:ln/>
        </p:spPr>
        <p:txBody>
          <a:bodyPr wrap="square" lIns="0" tIns="0" rIns="0" bIns="0" rtlCol="0" anchor="ctr"/>
          <a:lstStyle/>
          <a:p>
            <a:pPr indent="0" marL="0">
              <a:lnSpc>
                <a:spcPct val="125000"/>
              </a:lnSpc>
              <a:buNone/>
            </a:pPr>
            <a:r>
              <a:rPr lang="en-US" sz="1000" i="1" dirty="0">
                <a:solidFill>
                  <a:srgbClr val="9FB0D6"/>
                </a:solidFill>
                <a:latin typeface="Leelawadee UI" pitchFamily="34" charset="0"/>
                <a:ea typeface="Leelawadee UI" pitchFamily="34" charset="-122"/>
                <a:cs typeface="Leelawadee UI" pitchFamily="34" charset="-120"/>
              </a:rPr>
              <a:t>ผลลัพธ์: ลดการหลอน (hallucination) และตรวจสอบย้อนกลับได้ทุกคำตอบ</a:t>
            </a:r>
            <a:endParaRPr lang="en-US" sz="1000" dirty="0"/>
          </a:p>
        </p:txBody>
      </p:sp>
      <p:sp>
        <p:nvSpPr>
          <p:cNvPr id="57" name="Shape 53"/>
          <p:cNvSpPr/>
          <p:nvPr/>
        </p:nvSpPr>
        <p:spPr>
          <a:xfrm>
            <a:off x="6336792" y="2331720"/>
            <a:ext cx="5349240" cy="2468880"/>
          </a:xfrm>
          <a:prstGeom prst="roundRect">
            <a:avLst>
              <a:gd name="adj" fmla="val 3704"/>
            </a:avLst>
          </a:prstGeom>
          <a:solidFill>
            <a:srgbClr val="16233F"/>
          </a:solidFill>
          <a:ln/>
        </p:spPr>
      </p:sp>
      <p:pic>
        <p:nvPicPr>
          <p:cNvPr id="58" name="Image 2" descr="/tmp/claude-0/-home-claude/031105a5-f49f-54fe-8ccb-acf4a5fade53/scratchpad/deck/assets/ic_validate.png">    </p:cNvPr>
          <p:cNvPicPr>
            <a:picLocks noChangeAspect="1"/>
          </p:cNvPicPr>
          <p:nvPr/>
        </p:nvPicPr>
        <p:blipFill>
          <a:blip r:embed="rId3"/>
          <a:stretch>
            <a:fillRect/>
          </a:stretch>
        </p:blipFill>
        <p:spPr>
          <a:xfrm>
            <a:off x="6592824" y="2514600"/>
            <a:ext cx="365760" cy="365760"/>
          </a:xfrm>
          <a:prstGeom prst="rect">
            <a:avLst/>
          </a:prstGeom>
          <a:effectLst>
            <a:outerShdw sx="100000" sy="100000" kx="0" ky="0" algn="bl" rotWithShape="0" blurRad="76200" dist="25400" dir="5400000">
              <a:srgbClr val="1B2A4A">
                <a:alpha val="28000"/>
              </a:srgbClr>
            </a:outerShdw>
          </a:effectLst>
        </p:spPr>
      </p:pic>
      <p:sp>
        <p:nvSpPr>
          <p:cNvPr id="59" name="Text 54"/>
          <p:cNvSpPr txBox="1"/>
          <p:nvPr/>
        </p:nvSpPr>
        <p:spPr>
          <a:xfrm>
            <a:off x="7068312" y="2551176"/>
            <a:ext cx="4361688" cy="292608"/>
          </a:xfrm>
          <a:prstGeom prst="rect">
            <a:avLst/>
          </a:prstGeom>
          <a:noFill/>
          <a:ln/>
        </p:spPr>
        <p:txBody>
          <a:bodyPr wrap="square" lIns="0" tIns="0" rIns="0" bIns="0" rtlCol="0" anchor="ctr"/>
          <a:lstStyle/>
          <a:p>
            <a:pPr indent="0" marL="0">
              <a:buNone/>
            </a:pPr>
            <a:r>
              <a:rPr lang="en-US" sz="1250" b="1" dirty="0">
                <a:solidFill>
                  <a:srgbClr val="FFFFFF"/>
                </a:solidFill>
                <a:latin typeface="Leelawadee UI" pitchFamily="34" charset="0"/>
                <a:ea typeface="Leelawadee UI" pitchFamily="34" charset="-122"/>
                <a:cs typeface="Leelawadee UI" pitchFamily="34" charset="-120"/>
              </a:rPr>
              <a:t>มาตรการความปลอดภัย (Guardrails)</a:t>
            </a:r>
            <a:endParaRPr lang="en-US" sz="1250" dirty="0"/>
          </a:p>
        </p:txBody>
      </p:sp>
      <p:sp>
        <p:nvSpPr>
          <p:cNvPr id="60" name="Text 55"/>
          <p:cNvSpPr txBox="1"/>
          <p:nvPr/>
        </p:nvSpPr>
        <p:spPr>
          <a:xfrm>
            <a:off x="6592824" y="2971800"/>
            <a:ext cx="4837176" cy="4114800"/>
          </a:xfrm>
          <a:prstGeom prst="rect">
            <a:avLst/>
          </a:prstGeom>
          <a:noFill/>
          <a:ln/>
        </p:spPr>
        <p:txBody>
          <a:bodyPr wrap="square" lIns="0" tIns="0" rIns="0" bIns="0" rtlCol="0" anchor="t"/>
          <a:lstStyle/>
          <a:p>
            <a:pPr marL="228600" indent="-228600">
              <a:lnSpc>
                <a:spcPct val="128000"/>
              </a:lnSpc>
              <a:spcAft>
                <a:spcPts val="700"/>
              </a:spcAft>
              <a:buSzPct val="100000"/>
              <a:buChar char="▪"/>
            </a:pPr>
            <a:r>
              <a:rPr lang="en-US" sz="1050" dirty="0">
                <a:solidFill>
                  <a:srgbClr val="E4E9F5"/>
                </a:solidFill>
                <a:latin typeface="Leelawadee UI" pitchFamily="34" charset="0"/>
                <a:ea typeface="Leelawadee UI" pitchFamily="34" charset="-122"/>
                <a:cs typeface="Leelawadee UI" pitchFamily="34" charset="-120"/>
              </a:rPr>
              <a:t>รับเฉพาะ SELECT และปฏิเสธ INSERT/DELETE/DROP/CLEAR ทุกกรณี</a:t>
            </a:r>
            <a:endParaRPr lang="en-US" sz="1050" dirty="0"/>
          </a:p>
          <a:p>
            <a:pPr marL="228600" indent="-228600">
              <a:lnSpc>
                <a:spcPct val="128000"/>
              </a:lnSpc>
              <a:spcAft>
                <a:spcPts val="700"/>
              </a:spcAft>
              <a:buSzPct val="100000"/>
              <a:buChar char="▪"/>
            </a:pPr>
            <a:r>
              <a:rPr lang="en-US" sz="1050" dirty="0">
                <a:solidFill>
                  <a:srgbClr val="E4E9F5"/>
                </a:solidFill>
                <a:latin typeface="Leelawadee UI" pitchFamily="34" charset="0"/>
                <a:ea typeface="Leelawadee UI" pitchFamily="34" charset="-122"/>
                <a:cs typeface="Leelawadee UI" pitchFamily="34" charset="-120"/>
              </a:rPr>
              <a:t>ตรวจ URI/term ให้อยู่ใน ontology namespace ที่กำหนด</a:t>
            </a:r>
            <a:endParaRPr lang="en-US" sz="1050" dirty="0"/>
          </a:p>
          <a:p>
            <a:pPr marL="228600" indent="-228600">
              <a:lnSpc>
                <a:spcPct val="128000"/>
              </a:lnSpc>
              <a:spcAft>
                <a:spcPts val="700"/>
              </a:spcAft>
              <a:buSzPct val="100000"/>
              <a:buChar char="▪"/>
            </a:pPr>
            <a:r>
              <a:rPr lang="en-US" sz="1050" dirty="0">
                <a:solidFill>
                  <a:srgbClr val="E4E9F5"/>
                </a:solidFill>
                <a:latin typeface="Leelawadee UI" pitchFamily="34" charset="0"/>
                <a:ea typeface="Leelawadee UI" pitchFamily="34" charset="-122"/>
                <a:cs typeface="Leelawadee UI" pitchFamily="34" charset="-120"/>
              </a:rPr>
              <a:t>Retry การสร้าง query ได้อีก 1 ครั้งหากไม่ผ่าน validation</a:t>
            </a:r>
            <a:endParaRPr lang="en-US" sz="1050" dirty="0"/>
          </a:p>
          <a:p>
            <a:pPr marL="228600" indent="-228600">
              <a:lnSpc>
                <a:spcPct val="128000"/>
              </a:lnSpc>
              <a:spcAft>
                <a:spcPts val="700"/>
              </a:spcAft>
              <a:buSzPct val="100000"/>
              <a:buChar char="▪"/>
            </a:pPr>
            <a:r>
              <a:rPr lang="en-US" sz="1050" dirty="0">
                <a:solidFill>
                  <a:srgbClr val="E4E9F5"/>
                </a:solidFill>
                <a:latin typeface="Leelawadee UI" pitchFamily="34" charset="0"/>
                <a:ea typeface="Leelawadee UI" pitchFamily="34" charset="-122"/>
                <a:cs typeface="Leelawadee UI" pitchFamily="34" charset="-120"/>
              </a:rPr>
              <a:t>ส่งเฉพาะผลลัพธ์ที่ verified แล้วให้ LLM สรุปคำตอบ</a:t>
            </a:r>
            <a:endParaRPr lang="en-US" sz="1050" dirty="0"/>
          </a:p>
        </p:txBody>
      </p:sp>
      <p:sp>
        <p:nvSpPr>
          <p:cNvPr id="61" name="Shape 56"/>
          <p:cNvSpPr/>
          <p:nvPr/>
        </p:nvSpPr>
        <p:spPr>
          <a:xfrm>
            <a:off x="502920" y="5074920"/>
            <a:ext cx="914400" cy="0"/>
          </a:xfrm>
          <a:prstGeom prst="line">
            <a:avLst/>
          </a:prstGeom>
          <a:noFill/>
          <a:ln w="25400">
            <a:solidFill>
              <a:srgbClr val="F5A524"/>
            </a:solidFill>
            <a:prstDash val="solid"/>
          </a:ln>
        </p:spPr>
      </p:sp>
      <p:sp>
        <p:nvSpPr>
          <p:cNvPr id="62" name="Text 57"/>
          <p:cNvSpPr txBox="1"/>
          <p:nvPr/>
        </p:nvSpPr>
        <p:spPr>
          <a:xfrm>
            <a:off x="502920" y="5230368"/>
            <a:ext cx="6400800" cy="548640"/>
          </a:xfrm>
          <a:prstGeom prst="rect">
            <a:avLst/>
          </a:prstGeom>
          <a:noFill/>
          <a:ln/>
        </p:spPr>
        <p:txBody>
          <a:bodyPr wrap="square" lIns="0" tIns="0" rIns="0" bIns="0" rtlCol="0" anchor="ctr"/>
          <a:lstStyle/>
          <a:p>
            <a:pPr indent="0" marL="0">
              <a:buNone/>
            </a:pPr>
            <a:r>
              <a:rPr lang="en-US" sz="2600" b="1" dirty="0">
                <a:solidFill>
                  <a:srgbClr val="FFFFFF"/>
                </a:solidFill>
                <a:latin typeface="Leelawadee UI" pitchFamily="34" charset="0"/>
                <a:ea typeface="Leelawadee UI" pitchFamily="34" charset="-122"/>
                <a:cs typeface="Leelawadee UI" pitchFamily="34" charset="-120"/>
              </a:rPr>
              <a:t>ขอบคุณครับ</a:t>
            </a:r>
            <a:endParaRPr lang="en-US" sz="2600" dirty="0"/>
          </a:p>
        </p:txBody>
      </p:sp>
      <p:sp>
        <p:nvSpPr>
          <p:cNvPr id="63" name="Text 58"/>
          <p:cNvSpPr txBox="1"/>
          <p:nvPr/>
        </p:nvSpPr>
        <p:spPr>
          <a:xfrm>
            <a:off x="502920" y="5742432"/>
            <a:ext cx="6400800" cy="320040"/>
          </a:xfrm>
          <a:prstGeom prst="rect">
            <a:avLst/>
          </a:prstGeom>
          <a:noFill/>
          <a:ln/>
        </p:spPr>
        <p:txBody>
          <a:bodyPr wrap="square" lIns="0" tIns="0" rIns="0" bIns="0" rtlCol="0" anchor="ctr"/>
          <a:lstStyle/>
          <a:p>
            <a:pPr indent="0" marL="0">
              <a:buNone/>
            </a:pPr>
            <a:r>
              <a:rPr lang="en-US" sz="1250" dirty="0">
                <a:solidFill>
                  <a:srgbClr val="AEB9D6"/>
                </a:solidFill>
                <a:latin typeface="Leelawadee UI" pitchFamily="34" charset="0"/>
                <a:ea typeface="Leelawadee UI" pitchFamily="34" charset="-122"/>
                <a:cs typeface="Leelawadee UI" pitchFamily="34" charset="-120"/>
              </a:rPr>
              <a:t>คำถาม &amp; ข้อเสนอแนะยินดีรับฟังครับ</a:t>
            </a:r>
            <a:endParaRPr lang="en-US" sz="1250" dirty="0"/>
          </a:p>
        </p:txBody>
      </p:sp>
      <p:sp>
        <p:nvSpPr>
          <p:cNvPr id="64" name="Text 59"/>
          <p:cNvSpPr txBox="1"/>
          <p:nvPr/>
        </p:nvSpPr>
        <p:spPr>
          <a:xfrm>
            <a:off x="502920" y="6263640"/>
            <a:ext cx="7315200" cy="274320"/>
          </a:xfrm>
          <a:prstGeom prst="rect">
            <a:avLst/>
          </a:prstGeom>
          <a:noFill/>
          <a:ln/>
        </p:spPr>
        <p:txBody>
          <a:bodyPr wrap="square" lIns="0" tIns="0" rIns="0" bIns="0" rtlCol="0" anchor="ctr"/>
          <a:lstStyle/>
          <a:p>
            <a:pPr indent="0" marL="0">
              <a:buNone/>
            </a:pPr>
            <a:r>
              <a:rPr lang="en-US" sz="1000" dirty="0">
                <a:solidFill>
                  <a:srgbClr val="6C7EA6"/>
                </a:solidFill>
                <a:latin typeface="Leelawadee UI" pitchFamily="34" charset="0"/>
                <a:ea typeface="Leelawadee UI" pitchFamily="34" charset="-122"/>
                <a:cs typeface="Leelawadee UI" pitchFamily="34" charset="-120"/>
              </a:rPr>
              <a:t>Poonchub · Sura Methi  ·  m6900649@sut.ac.th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Sura Methi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GraphMind - Fruit Ontology Knowledge Graph: Tech Stack &amp; Concept</dc:title>
  <dc:subject>PptxGenJS Presentation</dc:subject>
  <dc:creator>Poonchub</dc:creator>
  <cp:lastModifiedBy>Poonchub</cp:lastModifiedBy>
  <cp:revision>1</cp:revision>
  <dcterms:created xsi:type="dcterms:W3CDTF">2026-09-09T15:55:51Z</dcterms:created>
  <dcterms:modified xsi:type="dcterms:W3CDTF">2026-09-09T15:55:51Z</dcterms:modified>
</cp:coreProperties>
</file>